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1" r:id="rId6"/>
    <p:sldId id="260" r:id="rId7"/>
    <p:sldId id="261" r:id="rId8"/>
    <p:sldId id="262" r:id="rId9"/>
    <p:sldId id="263" r:id="rId10"/>
    <p:sldId id="264" r:id="rId11"/>
    <p:sldId id="265" r:id="rId12"/>
    <p:sldId id="266" r:id="rId13"/>
    <p:sldId id="267" r:id="rId14"/>
    <p:sldId id="268" r:id="rId15"/>
    <p:sldId id="269" r:id="rId16"/>
    <p:sldId id="270"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Years of Data</c:v>
                </c:pt>
              </c:strCache>
            </c:strRef>
          </c:tx>
          <c:spPr>
            <a:solidFill>
              <a:srgbClr val="F2704F"/>
            </a:solidFill>
            <a:effectLst/>
          </c:spPr>
          <c:invertIfNegative val="0"/>
          <c:dPt>
            <c:idx val="0"/>
            <c:invertIfNegative val="0"/>
            <c:bubble3D val="0"/>
            <c:spPr>
              <a:solidFill>
                <a:srgbClr val="F2704F"/>
              </a:solidFill>
              <a:effectLst/>
            </c:spPr>
            <c:extLst>
              <c:ext xmlns:c16="http://schemas.microsoft.com/office/drawing/2014/chart" uri="{C3380CC4-5D6E-409C-BE32-E72D297353CC}">
                <c16:uniqueId val="{00000001-0D69-467B-933A-05E08D252F38}"/>
              </c:ext>
            </c:extLst>
          </c:dPt>
          <c:dPt>
            <c:idx val="1"/>
            <c:invertIfNegative val="0"/>
            <c:bubble3D val="0"/>
            <c:spPr>
              <a:solidFill>
                <a:srgbClr val="F2704F"/>
              </a:solidFill>
              <a:effectLst/>
            </c:spPr>
            <c:extLst>
              <c:ext xmlns:c16="http://schemas.microsoft.com/office/drawing/2014/chart" uri="{C3380CC4-5D6E-409C-BE32-E72D297353CC}">
                <c16:uniqueId val="{00000003-0D69-467B-933A-05E08D252F38}"/>
              </c:ext>
            </c:extLst>
          </c:dPt>
          <c:dPt>
            <c:idx val="2"/>
            <c:invertIfNegative val="0"/>
            <c:bubble3D val="0"/>
            <c:spPr>
              <a:solidFill>
                <a:srgbClr val="F2704F"/>
              </a:solidFill>
              <a:effectLst/>
            </c:spPr>
            <c:extLst>
              <c:ext xmlns:c16="http://schemas.microsoft.com/office/drawing/2014/chart" uri="{C3380CC4-5D6E-409C-BE32-E72D297353CC}">
                <c16:uniqueId val="{00000005-0D69-467B-933A-05E08D252F38}"/>
              </c:ext>
            </c:extLst>
          </c:dPt>
          <c:dPt>
            <c:idx val="3"/>
            <c:invertIfNegative val="0"/>
            <c:bubble3D val="0"/>
            <c:spPr>
              <a:solidFill>
                <a:srgbClr val="F2704F"/>
              </a:solidFill>
              <a:effectLst/>
            </c:spPr>
            <c:extLst>
              <c:ext xmlns:c16="http://schemas.microsoft.com/office/drawing/2014/chart" uri="{C3380CC4-5D6E-409C-BE32-E72D297353CC}">
                <c16:uniqueId val="{00000007-0D69-467B-933A-05E08D252F38}"/>
              </c:ext>
            </c:extLst>
          </c:dPt>
          <c:dPt>
            <c:idx val="4"/>
            <c:invertIfNegative val="0"/>
            <c:bubble3D val="0"/>
            <c:spPr>
              <a:solidFill>
                <a:srgbClr val="F2704F"/>
              </a:solidFill>
              <a:effectLst/>
            </c:spPr>
            <c:extLst>
              <c:ext xmlns:c16="http://schemas.microsoft.com/office/drawing/2014/chart" uri="{C3380CC4-5D6E-409C-BE32-E72D297353CC}">
                <c16:uniqueId val="{00000009-0D69-467B-933A-05E08D252F38}"/>
              </c:ext>
            </c:extLst>
          </c:dPt>
          <c:dPt>
            <c:idx val="5"/>
            <c:invertIfNegative val="0"/>
            <c:bubble3D val="0"/>
            <c:spPr>
              <a:solidFill>
                <a:srgbClr val="F2704F"/>
              </a:solidFill>
              <a:effectLst/>
            </c:spPr>
            <c:extLst>
              <c:ext xmlns:c16="http://schemas.microsoft.com/office/drawing/2014/chart" uri="{C3380CC4-5D6E-409C-BE32-E72D297353CC}">
                <c16:uniqueId val="{0000000B-0D69-467B-933A-05E08D252F38}"/>
              </c:ext>
            </c:extLst>
          </c:dPt>
          <c:dPt>
            <c:idx val="6"/>
            <c:invertIfNegative val="0"/>
            <c:bubble3D val="0"/>
            <c:spPr>
              <a:solidFill>
                <a:srgbClr val="F2704F"/>
              </a:solidFill>
              <a:effectLst/>
            </c:spPr>
            <c:extLst>
              <c:ext xmlns:c16="http://schemas.microsoft.com/office/drawing/2014/chart" uri="{C3380CC4-5D6E-409C-BE32-E72D297353CC}">
                <c16:uniqueId val="{0000000D-0D69-467B-933A-05E08D252F38}"/>
              </c:ext>
            </c:extLst>
          </c:dPt>
          <c:dPt>
            <c:idx val="7"/>
            <c:invertIfNegative val="0"/>
            <c:bubble3D val="0"/>
            <c:spPr>
              <a:solidFill>
                <a:srgbClr val="F2704F"/>
              </a:solidFill>
              <a:effectLst/>
            </c:spPr>
            <c:extLst>
              <c:ext xmlns:c16="http://schemas.microsoft.com/office/drawing/2014/chart" uri="{C3380CC4-5D6E-409C-BE32-E72D297353CC}">
                <c16:uniqueId val="{0000000F-0D69-467B-933A-05E08D252F38}"/>
              </c:ext>
            </c:extLst>
          </c:dPt>
          <c:dPt>
            <c:idx val="8"/>
            <c:invertIfNegative val="0"/>
            <c:bubble3D val="0"/>
            <c:spPr>
              <a:solidFill>
                <a:srgbClr val="F2704F"/>
              </a:solidFill>
              <a:effectLst/>
            </c:spPr>
            <c:extLst>
              <c:ext xmlns:c16="http://schemas.microsoft.com/office/drawing/2014/chart" uri="{C3380CC4-5D6E-409C-BE32-E72D297353CC}">
                <c16:uniqueId val="{00000011-0D69-467B-933A-05E08D252F38}"/>
              </c:ext>
            </c:extLst>
          </c:dPt>
          <c:dPt>
            <c:idx val="9"/>
            <c:invertIfNegative val="0"/>
            <c:bubble3D val="0"/>
            <c:spPr>
              <a:solidFill>
                <a:srgbClr val="CADCFC"/>
              </a:solidFill>
              <a:effectLst/>
            </c:spPr>
            <c:extLst>
              <c:ext xmlns:c16="http://schemas.microsoft.com/office/drawing/2014/chart" uri="{C3380CC4-5D6E-409C-BE32-E72D297353CC}">
                <c16:uniqueId val="{00000013-0D69-467B-933A-05E08D252F38}"/>
              </c:ext>
            </c:extLst>
          </c:dPt>
          <c:dPt>
            <c:idx val="10"/>
            <c:invertIfNegative val="0"/>
            <c:bubble3D val="0"/>
            <c:spPr>
              <a:solidFill>
                <a:srgbClr val="CADCFC"/>
              </a:solidFill>
              <a:effectLst/>
            </c:spPr>
            <c:extLst>
              <c:ext xmlns:c16="http://schemas.microsoft.com/office/drawing/2014/chart" uri="{C3380CC4-5D6E-409C-BE32-E72D297353CC}">
                <c16:uniqueId val="{00000015-0D69-467B-933A-05E08D252F38}"/>
              </c:ext>
            </c:extLst>
          </c:dPt>
          <c:dPt>
            <c:idx val="11"/>
            <c:invertIfNegative val="0"/>
            <c:bubble3D val="0"/>
            <c:spPr>
              <a:solidFill>
                <a:srgbClr val="CADCFC"/>
              </a:solidFill>
              <a:effectLst/>
            </c:spPr>
            <c:extLst>
              <c:ext xmlns:c16="http://schemas.microsoft.com/office/drawing/2014/chart" uri="{C3380CC4-5D6E-409C-BE32-E72D297353CC}">
                <c16:uniqueId val="{00000017-0D69-467B-933A-05E08D252F38}"/>
              </c:ext>
            </c:extLst>
          </c:dPt>
          <c:dPt>
            <c:idx val="12"/>
            <c:invertIfNegative val="0"/>
            <c:bubble3D val="0"/>
            <c:spPr>
              <a:solidFill>
                <a:srgbClr val="CADCFC"/>
              </a:solidFill>
              <a:effectLst/>
            </c:spPr>
            <c:extLst>
              <c:ext xmlns:c16="http://schemas.microsoft.com/office/drawing/2014/chart" uri="{C3380CC4-5D6E-409C-BE32-E72D297353CC}">
                <c16:uniqueId val="{00000019-0D69-467B-933A-05E08D252F38}"/>
              </c:ext>
            </c:extLst>
          </c:dPt>
          <c:dPt>
            <c:idx val="13"/>
            <c:invertIfNegative val="0"/>
            <c:bubble3D val="0"/>
            <c:spPr>
              <a:solidFill>
                <a:srgbClr val="CADCFC"/>
              </a:solidFill>
              <a:effectLst/>
            </c:spPr>
            <c:extLst>
              <c:ext xmlns:c16="http://schemas.microsoft.com/office/drawing/2014/chart" uri="{C3380CC4-5D6E-409C-BE32-E72D297353CC}">
                <c16:uniqueId val="{0000001B-0D69-467B-933A-05E08D252F38}"/>
              </c:ext>
            </c:extLst>
          </c:dPt>
          <c:dPt>
            <c:idx val="14"/>
            <c:invertIfNegative val="0"/>
            <c:bubble3D val="0"/>
            <c:spPr>
              <a:solidFill>
                <a:srgbClr val="CADCFC"/>
              </a:solidFill>
              <a:effectLst/>
            </c:spPr>
            <c:extLst>
              <c:ext xmlns:c16="http://schemas.microsoft.com/office/drawing/2014/chart" uri="{C3380CC4-5D6E-409C-BE32-E72D297353CC}">
                <c16:uniqueId val="{0000001D-0D69-467B-933A-05E08D252F38}"/>
              </c:ext>
            </c:extLst>
          </c:dPt>
          <c:dPt>
            <c:idx val="15"/>
            <c:invertIfNegative val="0"/>
            <c:bubble3D val="0"/>
            <c:spPr>
              <a:solidFill>
                <a:srgbClr val="CADCFC"/>
              </a:solidFill>
              <a:effectLst/>
            </c:spPr>
            <c:extLst>
              <c:ext xmlns:c16="http://schemas.microsoft.com/office/drawing/2014/chart" uri="{C3380CC4-5D6E-409C-BE32-E72D297353CC}">
                <c16:uniqueId val="{0000001F-0D69-467B-933A-05E08D252F38}"/>
              </c:ext>
            </c:extLst>
          </c:dPt>
          <c:dPt>
            <c:idx val="16"/>
            <c:invertIfNegative val="0"/>
            <c:bubble3D val="0"/>
            <c:spPr>
              <a:solidFill>
                <a:srgbClr val="CADCFC"/>
              </a:solidFill>
              <a:effectLst/>
            </c:spPr>
            <c:extLst>
              <c:ext xmlns:c16="http://schemas.microsoft.com/office/drawing/2014/chart" uri="{C3380CC4-5D6E-409C-BE32-E72D297353CC}">
                <c16:uniqueId val="{00000021-0D69-467B-933A-05E08D252F38}"/>
              </c:ext>
            </c:extLst>
          </c:dPt>
          <c:dPt>
            <c:idx val="17"/>
            <c:invertIfNegative val="0"/>
            <c:bubble3D val="0"/>
            <c:spPr>
              <a:solidFill>
                <a:srgbClr val="CADCFC"/>
              </a:solidFill>
              <a:effectLst/>
            </c:spPr>
            <c:extLst>
              <c:ext xmlns:c16="http://schemas.microsoft.com/office/drawing/2014/chart" uri="{C3380CC4-5D6E-409C-BE32-E72D297353CC}">
                <c16:uniqueId val="{00000023-0D69-467B-933A-05E08D252F38}"/>
              </c:ext>
            </c:extLst>
          </c:dPt>
          <c:dPt>
            <c:idx val="18"/>
            <c:invertIfNegative val="0"/>
            <c:bubble3D val="0"/>
            <c:spPr>
              <a:solidFill>
                <a:srgbClr val="CADCFC"/>
              </a:solidFill>
              <a:effectLst/>
            </c:spPr>
            <c:extLst>
              <c:ext xmlns:c16="http://schemas.microsoft.com/office/drawing/2014/chart" uri="{C3380CC4-5D6E-409C-BE32-E72D297353CC}">
                <c16:uniqueId val="{00000025-0D69-467B-933A-05E08D252F38}"/>
              </c:ext>
            </c:extLst>
          </c:dPt>
          <c:dPt>
            <c:idx val="19"/>
            <c:invertIfNegative val="0"/>
            <c:bubble3D val="0"/>
            <c:spPr>
              <a:solidFill>
                <a:srgbClr val="CADCFC"/>
              </a:solidFill>
              <a:effectLst/>
            </c:spPr>
            <c:extLst>
              <c:ext xmlns:c16="http://schemas.microsoft.com/office/drawing/2014/chart" uri="{C3380CC4-5D6E-409C-BE32-E72D297353CC}">
                <c16:uniqueId val="{00000027-0D69-467B-933A-05E08D252F38}"/>
              </c:ext>
            </c:extLst>
          </c:dPt>
          <c:dPt>
            <c:idx val="20"/>
            <c:invertIfNegative val="0"/>
            <c:bubble3D val="0"/>
            <c:spPr>
              <a:solidFill>
                <a:srgbClr val="CADCFC"/>
              </a:solidFill>
              <a:effectLst/>
            </c:spPr>
            <c:extLst>
              <c:ext xmlns:c16="http://schemas.microsoft.com/office/drawing/2014/chart" uri="{C3380CC4-5D6E-409C-BE32-E72D297353CC}">
                <c16:uniqueId val="{00000029-0D69-467B-933A-05E08D252F38}"/>
              </c:ext>
            </c:extLst>
          </c:dPt>
          <c:dPt>
            <c:idx val="21"/>
            <c:invertIfNegative val="0"/>
            <c:bubble3D val="0"/>
            <c:spPr>
              <a:solidFill>
                <a:srgbClr val="CADCFC"/>
              </a:solidFill>
              <a:effectLst/>
            </c:spPr>
            <c:extLst>
              <c:ext xmlns:c16="http://schemas.microsoft.com/office/drawing/2014/chart" uri="{C3380CC4-5D6E-409C-BE32-E72D297353CC}">
                <c16:uniqueId val="{0000002B-0D69-467B-933A-05E08D252F38}"/>
              </c:ext>
            </c:extLst>
          </c:dPt>
          <c:dPt>
            <c:idx val="22"/>
            <c:invertIfNegative val="0"/>
            <c:bubble3D val="0"/>
            <c:spPr>
              <a:solidFill>
                <a:srgbClr val="CADCFC"/>
              </a:solidFill>
              <a:effectLst/>
            </c:spPr>
            <c:extLst>
              <c:ext xmlns:c16="http://schemas.microsoft.com/office/drawing/2014/chart" uri="{C3380CC4-5D6E-409C-BE32-E72D297353CC}">
                <c16:uniqueId val="{0000002D-0D69-467B-933A-05E08D252F38}"/>
              </c:ext>
            </c:extLst>
          </c:dPt>
          <c:dPt>
            <c:idx val="23"/>
            <c:invertIfNegative val="0"/>
            <c:bubble3D val="0"/>
            <c:spPr>
              <a:solidFill>
                <a:srgbClr val="CADCFC"/>
              </a:solidFill>
              <a:effectLst/>
            </c:spPr>
            <c:extLst>
              <c:ext xmlns:c16="http://schemas.microsoft.com/office/drawing/2014/chart" uri="{C3380CC4-5D6E-409C-BE32-E72D297353CC}">
                <c16:uniqueId val="{0000002F-0D69-467B-933A-05E08D252F38}"/>
              </c:ext>
            </c:extLst>
          </c:dPt>
          <c:dPt>
            <c:idx val="24"/>
            <c:invertIfNegative val="0"/>
            <c:bubble3D val="0"/>
            <c:spPr>
              <a:solidFill>
                <a:srgbClr val="CADCFC"/>
              </a:solidFill>
              <a:effectLst/>
            </c:spPr>
            <c:extLst>
              <c:ext xmlns:c16="http://schemas.microsoft.com/office/drawing/2014/chart" uri="{C3380CC4-5D6E-409C-BE32-E72D297353CC}">
                <c16:uniqueId val="{00000031-0D69-467B-933A-05E08D252F38}"/>
              </c:ext>
            </c:extLst>
          </c:dPt>
          <c:dPt>
            <c:idx val="25"/>
            <c:invertIfNegative val="0"/>
            <c:bubble3D val="0"/>
            <c:spPr>
              <a:solidFill>
                <a:srgbClr val="CADCFC"/>
              </a:solidFill>
              <a:effectLst/>
            </c:spPr>
            <c:extLst>
              <c:ext xmlns:c16="http://schemas.microsoft.com/office/drawing/2014/chart" uri="{C3380CC4-5D6E-409C-BE32-E72D297353CC}">
                <c16:uniqueId val="{00000033-0D69-467B-933A-05E08D252F38}"/>
              </c:ext>
            </c:extLst>
          </c:dPt>
          <c:dPt>
            <c:idx val="26"/>
            <c:invertIfNegative val="0"/>
            <c:bubble3D val="0"/>
            <c:spPr>
              <a:solidFill>
                <a:srgbClr val="CADCFC"/>
              </a:solidFill>
              <a:effectLst/>
            </c:spPr>
            <c:extLst>
              <c:ext xmlns:c16="http://schemas.microsoft.com/office/drawing/2014/chart" uri="{C3380CC4-5D6E-409C-BE32-E72D297353CC}">
                <c16:uniqueId val="{00000035-0D69-467B-933A-05E08D252F38}"/>
              </c:ext>
            </c:extLst>
          </c:dPt>
          <c:dPt>
            <c:idx val="27"/>
            <c:invertIfNegative val="0"/>
            <c:bubble3D val="0"/>
            <c:spPr>
              <a:solidFill>
                <a:srgbClr val="CADCFC"/>
              </a:solidFill>
              <a:effectLst/>
            </c:spPr>
            <c:extLst>
              <c:ext xmlns:c16="http://schemas.microsoft.com/office/drawing/2014/chart" uri="{C3380CC4-5D6E-409C-BE32-E72D297353CC}">
                <c16:uniqueId val="{00000037-0D69-467B-933A-05E08D252F38}"/>
              </c:ext>
            </c:extLst>
          </c:dPt>
          <c:dPt>
            <c:idx val="28"/>
            <c:invertIfNegative val="0"/>
            <c:bubble3D val="0"/>
            <c:spPr>
              <a:solidFill>
                <a:srgbClr val="CADCFC"/>
              </a:solidFill>
              <a:effectLst/>
            </c:spPr>
            <c:extLst>
              <c:ext xmlns:c16="http://schemas.microsoft.com/office/drawing/2014/chart" uri="{C3380CC4-5D6E-409C-BE32-E72D297353CC}">
                <c16:uniqueId val="{00000039-0D69-467B-933A-05E08D252F38}"/>
              </c:ext>
            </c:extLst>
          </c:dPt>
          <c:dPt>
            <c:idx val="29"/>
            <c:invertIfNegative val="0"/>
            <c:bubble3D val="0"/>
            <c:spPr>
              <a:solidFill>
                <a:srgbClr val="CADCFC"/>
              </a:solidFill>
              <a:effectLst/>
            </c:spPr>
            <c:extLst>
              <c:ext xmlns:c16="http://schemas.microsoft.com/office/drawing/2014/chart" uri="{C3380CC4-5D6E-409C-BE32-E72D297353CC}">
                <c16:uniqueId val="{0000003B-0D69-467B-933A-05E08D252F38}"/>
              </c:ext>
            </c:extLst>
          </c:dPt>
          <c:dPt>
            <c:idx val="30"/>
            <c:invertIfNegative val="0"/>
            <c:bubble3D val="0"/>
            <c:spPr>
              <a:solidFill>
                <a:srgbClr val="CADCFC"/>
              </a:solidFill>
              <a:effectLst/>
            </c:spPr>
            <c:extLst>
              <c:ext xmlns:c16="http://schemas.microsoft.com/office/drawing/2014/chart" uri="{C3380CC4-5D6E-409C-BE32-E72D297353CC}">
                <c16:uniqueId val="{0000003D-0D69-467B-933A-05E08D252F38}"/>
              </c:ext>
            </c:extLst>
          </c:dPt>
          <c:dPt>
            <c:idx val="31"/>
            <c:invertIfNegative val="0"/>
            <c:bubble3D val="0"/>
            <c:spPr>
              <a:solidFill>
                <a:srgbClr val="CADCFC"/>
              </a:solidFill>
              <a:effectLst/>
            </c:spPr>
            <c:extLst>
              <c:ext xmlns:c16="http://schemas.microsoft.com/office/drawing/2014/chart" uri="{C3380CC4-5D6E-409C-BE32-E72D297353CC}">
                <c16:uniqueId val="{0000003F-0D69-467B-933A-05E08D252F38}"/>
              </c:ext>
            </c:extLst>
          </c:dPt>
          <c:dPt>
            <c:idx val="32"/>
            <c:invertIfNegative val="0"/>
            <c:bubble3D val="0"/>
            <c:spPr>
              <a:solidFill>
                <a:srgbClr val="CADCFC"/>
              </a:solidFill>
              <a:effectLst/>
            </c:spPr>
            <c:extLst>
              <c:ext xmlns:c16="http://schemas.microsoft.com/office/drawing/2014/chart" uri="{C3380CC4-5D6E-409C-BE32-E72D297353CC}">
                <c16:uniqueId val="{00000041-0D69-467B-933A-05E08D252F38}"/>
              </c:ext>
            </c:extLst>
          </c:dPt>
          <c:dPt>
            <c:idx val="33"/>
            <c:invertIfNegative val="0"/>
            <c:bubble3D val="0"/>
            <c:spPr>
              <a:solidFill>
                <a:srgbClr val="CADCFC"/>
              </a:solidFill>
              <a:effectLst/>
            </c:spPr>
            <c:extLst>
              <c:ext xmlns:c16="http://schemas.microsoft.com/office/drawing/2014/chart" uri="{C3380CC4-5D6E-409C-BE32-E72D297353CC}">
                <c16:uniqueId val="{00000043-0D69-467B-933A-05E08D252F38}"/>
              </c:ext>
            </c:extLst>
          </c:dPt>
          <c:dPt>
            <c:idx val="34"/>
            <c:invertIfNegative val="0"/>
            <c:bubble3D val="0"/>
            <c:spPr>
              <a:solidFill>
                <a:srgbClr val="CADCFC"/>
              </a:solidFill>
              <a:effectLst/>
            </c:spPr>
            <c:extLst>
              <c:ext xmlns:c16="http://schemas.microsoft.com/office/drawing/2014/chart" uri="{C3380CC4-5D6E-409C-BE32-E72D297353CC}">
                <c16:uniqueId val="{00000045-0D69-467B-933A-05E08D252F38}"/>
              </c:ext>
            </c:extLst>
          </c:dPt>
          <c:cat>
            <c:strRef>
              <c:f>Sheet1!$A$2:$A$36</c:f>
              <c:strCache>
                <c:ptCount val="35"/>
                <c:pt idx="0">
                  <c:v>Barisal</c:v>
                </c:pt>
                <c:pt idx="1">
                  <c:v>Bhola</c:v>
                </c:pt>
                <c:pt idx="2">
                  <c:v>Bogra</c:v>
                </c:pt>
                <c:pt idx="3">
                  <c:v>CoxsBazar</c:v>
                </c:pt>
                <c:pt idx="4">
                  <c:v>Faridpur</c:v>
                </c:pt>
                <c:pt idx="5">
                  <c:v>Ishurdi</c:v>
                </c:pt>
                <c:pt idx="6">
                  <c:v>Mymensingh</c:v>
                </c:pt>
                <c:pt idx="7">
                  <c:v>Rangamati</c:v>
                </c:pt>
                <c:pt idx="8">
                  <c:v>Satkhira</c:v>
                </c:pt>
                <c:pt idx="9">
                  <c:v>Comilla</c:v>
                </c:pt>
                <c:pt idx="10">
                  <c:v>Dhaka</c:v>
                </c:pt>
                <c:pt idx="11">
                  <c:v>Jessore</c:v>
                </c:pt>
                <c:pt idx="12">
                  <c:v>Khulna</c:v>
                </c:pt>
                <c:pt idx="13">
                  <c:v>Rajshahi</c:v>
                </c:pt>
                <c:pt idx="14">
                  <c:v>Rangpur</c:v>
                </c:pt>
                <c:pt idx="15">
                  <c:v>Srimangal</c:v>
                </c:pt>
                <c:pt idx="16">
                  <c:v>Sylhet</c:v>
                </c:pt>
                <c:pt idx="17">
                  <c:v>M.court</c:v>
                </c:pt>
                <c:pt idx="18">
                  <c:v>Sandwip</c:v>
                </c:pt>
                <c:pt idx="19">
                  <c:v>Feni</c:v>
                </c:pt>
                <c:pt idx="20">
                  <c:v>Chandpur</c:v>
                </c:pt>
                <c:pt idx="21">
                  <c:v>Chittagong</c:v>
                </c:pt>
                <c:pt idx="22">
                  <c:v>Khepupara</c:v>
                </c:pt>
                <c:pt idx="23">
                  <c:v>Patuakhali</c:v>
                </c:pt>
                <c:pt idx="24">
                  <c:v>Hatiya</c:v>
                </c:pt>
                <c:pt idx="25">
                  <c:v>Sitakunda</c:v>
                </c:pt>
                <c:pt idx="26">
                  <c:v>Teknaf</c:v>
                </c:pt>
                <c:pt idx="27">
                  <c:v>Dinajpur</c:v>
                </c:pt>
                <c:pt idx="28">
                  <c:v>Madaripur</c:v>
                </c:pt>
                <c:pt idx="29">
                  <c:v>Kutubdia</c:v>
                </c:pt>
                <c:pt idx="30">
                  <c:v>Tangail</c:v>
                </c:pt>
                <c:pt idx="31">
                  <c:v>chuadanga</c:v>
                </c:pt>
                <c:pt idx="32">
                  <c:v>Mongla</c:v>
                </c:pt>
                <c:pt idx="33">
                  <c:v>sydpur</c:v>
                </c:pt>
                <c:pt idx="34">
                  <c:v>Ambagan_ctg</c:v>
                </c:pt>
              </c:strCache>
            </c:strRef>
          </c:cat>
          <c:val>
            <c:numRef>
              <c:f>Sheet1!$B$2:$B$36</c:f>
              <c:numCache>
                <c:formatCode>General</c:formatCode>
                <c:ptCount val="35"/>
                <c:pt idx="0">
                  <c:v>47</c:v>
                </c:pt>
                <c:pt idx="1">
                  <c:v>47</c:v>
                </c:pt>
                <c:pt idx="2">
                  <c:v>47</c:v>
                </c:pt>
                <c:pt idx="3">
                  <c:v>47</c:v>
                </c:pt>
                <c:pt idx="4">
                  <c:v>47</c:v>
                </c:pt>
                <c:pt idx="5">
                  <c:v>47</c:v>
                </c:pt>
                <c:pt idx="6">
                  <c:v>47</c:v>
                </c:pt>
                <c:pt idx="7">
                  <c:v>47</c:v>
                </c:pt>
                <c:pt idx="8">
                  <c:v>47</c:v>
                </c:pt>
                <c:pt idx="9">
                  <c:v>46</c:v>
                </c:pt>
                <c:pt idx="10">
                  <c:v>46</c:v>
                </c:pt>
                <c:pt idx="11">
                  <c:v>46</c:v>
                </c:pt>
                <c:pt idx="12">
                  <c:v>46</c:v>
                </c:pt>
                <c:pt idx="13">
                  <c:v>46</c:v>
                </c:pt>
                <c:pt idx="14">
                  <c:v>46</c:v>
                </c:pt>
                <c:pt idx="15">
                  <c:v>46</c:v>
                </c:pt>
                <c:pt idx="16">
                  <c:v>46</c:v>
                </c:pt>
                <c:pt idx="17">
                  <c:v>45</c:v>
                </c:pt>
                <c:pt idx="18">
                  <c:v>45</c:v>
                </c:pt>
                <c:pt idx="19">
                  <c:v>44</c:v>
                </c:pt>
                <c:pt idx="20">
                  <c:v>43</c:v>
                </c:pt>
                <c:pt idx="21">
                  <c:v>43</c:v>
                </c:pt>
                <c:pt idx="22">
                  <c:v>43</c:v>
                </c:pt>
                <c:pt idx="23">
                  <c:v>42</c:v>
                </c:pt>
                <c:pt idx="24">
                  <c:v>41</c:v>
                </c:pt>
                <c:pt idx="25">
                  <c:v>40</c:v>
                </c:pt>
                <c:pt idx="26">
                  <c:v>40</c:v>
                </c:pt>
                <c:pt idx="27">
                  <c:v>39</c:v>
                </c:pt>
                <c:pt idx="28">
                  <c:v>39</c:v>
                </c:pt>
                <c:pt idx="29">
                  <c:v>35</c:v>
                </c:pt>
                <c:pt idx="30">
                  <c:v>30</c:v>
                </c:pt>
                <c:pt idx="31">
                  <c:v>28</c:v>
                </c:pt>
                <c:pt idx="32">
                  <c:v>26</c:v>
                </c:pt>
                <c:pt idx="33">
                  <c:v>26</c:v>
                </c:pt>
                <c:pt idx="34">
                  <c:v>18</c:v>
                </c:pt>
              </c:numCache>
            </c:numRef>
          </c:val>
          <c:extLst>
            <c:ext xmlns:c16="http://schemas.microsoft.com/office/drawing/2014/chart" uri="{C3380CC4-5D6E-409C-BE32-E72D297353CC}">
              <c16:uniqueId val="{00000046-0D69-467B-933A-05E08D252F38}"/>
            </c:ext>
          </c:extLst>
        </c:ser>
        <c:dLbls>
          <c:showLegendKey val="0"/>
          <c:showVal val="0"/>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6B7A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EE"/>
              </a:solidFill>
              <a:prstDash val="solid"/>
              <a:round/>
            </a:ln>
          </c:spPr>
        </c:majorGridlines>
        <c:title>
          <c:tx>
            <c:rich>
              <a:bodyPr/>
              <a:lstStyle/>
              <a:p>
                <a:pPr>
                  <a:defRPr sz="1100" b="0" i="0" u="none" strike="noStrike">
                    <a:solidFill>
                      <a:srgbClr val="6B7A8F"/>
                    </a:solidFill>
                    <a:latin typeface="Arial"/>
                  </a:defRPr>
                </a:pPr>
                <a:r>
                  <a:rPr lang="en-US" sz="1100" b="0" i="0" u="none" strike="noStrike" dirty="0">
                    <a:solidFill>
                      <a:srgbClr val="6B7A8F"/>
                    </a:solidFill>
                    <a:latin typeface="Arial"/>
                  </a:rPr>
                  <a:t>Years of Data</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Daily Rainfall (mm)</c:v>
                </c:pt>
              </c:strCache>
            </c:strRef>
          </c:tx>
          <c:spPr>
            <a:solidFill>
              <a:srgbClr val="CADCFC"/>
            </a:solidFill>
            <a:effectLst/>
          </c:spPr>
          <c:invertIfNegative val="0"/>
          <c:dPt>
            <c:idx val="0"/>
            <c:invertIfNegative val="0"/>
            <c:bubble3D val="0"/>
            <c:spPr>
              <a:solidFill>
                <a:srgbClr val="CADCFC"/>
              </a:solidFill>
              <a:effectLst/>
            </c:spPr>
            <c:extLst>
              <c:ext xmlns:c16="http://schemas.microsoft.com/office/drawing/2014/chart" uri="{C3380CC4-5D6E-409C-BE32-E72D297353CC}">
                <c16:uniqueId val="{00000001-C191-4DE6-8459-2BD0AB0931B6}"/>
              </c:ext>
            </c:extLst>
          </c:dPt>
          <c:dPt>
            <c:idx val="1"/>
            <c:invertIfNegative val="0"/>
            <c:bubble3D val="0"/>
            <c:spPr>
              <a:solidFill>
                <a:srgbClr val="CADCFC"/>
              </a:solidFill>
              <a:effectLst/>
            </c:spPr>
            <c:extLst>
              <c:ext xmlns:c16="http://schemas.microsoft.com/office/drawing/2014/chart" uri="{C3380CC4-5D6E-409C-BE32-E72D297353CC}">
                <c16:uniqueId val="{00000003-C191-4DE6-8459-2BD0AB0931B6}"/>
              </c:ext>
            </c:extLst>
          </c:dPt>
          <c:dPt>
            <c:idx val="2"/>
            <c:invertIfNegative val="0"/>
            <c:bubble3D val="0"/>
            <c:spPr>
              <a:solidFill>
                <a:srgbClr val="CADCFC"/>
              </a:solidFill>
              <a:effectLst/>
            </c:spPr>
            <c:extLst>
              <c:ext xmlns:c16="http://schemas.microsoft.com/office/drawing/2014/chart" uri="{C3380CC4-5D6E-409C-BE32-E72D297353CC}">
                <c16:uniqueId val="{00000005-C191-4DE6-8459-2BD0AB0931B6}"/>
              </c:ext>
            </c:extLst>
          </c:dPt>
          <c:dPt>
            <c:idx val="3"/>
            <c:invertIfNegative val="0"/>
            <c:bubble3D val="0"/>
            <c:spPr>
              <a:solidFill>
                <a:srgbClr val="065A82"/>
              </a:solidFill>
              <a:effectLst/>
            </c:spPr>
            <c:extLst>
              <c:ext xmlns:c16="http://schemas.microsoft.com/office/drawing/2014/chart" uri="{C3380CC4-5D6E-409C-BE32-E72D297353CC}">
                <c16:uniqueId val="{00000007-C191-4DE6-8459-2BD0AB0931B6}"/>
              </c:ext>
            </c:extLst>
          </c:dPt>
          <c:dPt>
            <c:idx val="4"/>
            <c:invertIfNegative val="0"/>
            <c:bubble3D val="0"/>
            <c:spPr>
              <a:solidFill>
                <a:srgbClr val="065A82"/>
              </a:solidFill>
              <a:effectLst/>
            </c:spPr>
            <c:extLst>
              <c:ext xmlns:c16="http://schemas.microsoft.com/office/drawing/2014/chart" uri="{C3380CC4-5D6E-409C-BE32-E72D297353CC}">
                <c16:uniqueId val="{00000009-C191-4DE6-8459-2BD0AB0931B6}"/>
              </c:ext>
            </c:extLst>
          </c:dPt>
          <c:dPt>
            <c:idx val="5"/>
            <c:invertIfNegative val="0"/>
            <c:bubble3D val="0"/>
            <c:spPr>
              <a:solidFill>
                <a:srgbClr val="065A82"/>
              </a:solidFill>
              <a:effectLst/>
            </c:spPr>
            <c:extLst>
              <c:ext xmlns:c16="http://schemas.microsoft.com/office/drawing/2014/chart" uri="{C3380CC4-5D6E-409C-BE32-E72D297353CC}">
                <c16:uniqueId val="{0000000B-C191-4DE6-8459-2BD0AB0931B6}"/>
              </c:ext>
            </c:extLst>
          </c:dPt>
          <c:dPt>
            <c:idx val="6"/>
            <c:invertIfNegative val="0"/>
            <c:bubble3D val="0"/>
            <c:spPr>
              <a:solidFill>
                <a:srgbClr val="F2704F"/>
              </a:solidFill>
              <a:effectLst/>
            </c:spPr>
            <c:extLst>
              <c:ext xmlns:c16="http://schemas.microsoft.com/office/drawing/2014/chart" uri="{C3380CC4-5D6E-409C-BE32-E72D297353CC}">
                <c16:uniqueId val="{0000000D-C191-4DE6-8459-2BD0AB0931B6}"/>
              </c:ext>
            </c:extLst>
          </c:dPt>
          <c:dPt>
            <c:idx val="7"/>
            <c:invertIfNegative val="0"/>
            <c:bubble3D val="0"/>
            <c:spPr>
              <a:solidFill>
                <a:srgbClr val="F2704F"/>
              </a:solidFill>
              <a:effectLst/>
            </c:spPr>
            <c:extLst>
              <c:ext xmlns:c16="http://schemas.microsoft.com/office/drawing/2014/chart" uri="{C3380CC4-5D6E-409C-BE32-E72D297353CC}">
                <c16:uniqueId val="{0000000F-C191-4DE6-8459-2BD0AB0931B6}"/>
              </c:ext>
            </c:extLst>
          </c:dPt>
          <c:dPt>
            <c:idx val="8"/>
            <c:invertIfNegative val="0"/>
            <c:bubble3D val="0"/>
            <c:spPr>
              <a:solidFill>
                <a:srgbClr val="F2704F"/>
              </a:solidFill>
              <a:effectLst/>
            </c:spPr>
            <c:extLst>
              <c:ext xmlns:c16="http://schemas.microsoft.com/office/drawing/2014/chart" uri="{C3380CC4-5D6E-409C-BE32-E72D297353CC}">
                <c16:uniqueId val="{00000011-C191-4DE6-8459-2BD0AB0931B6}"/>
              </c:ext>
            </c:extLst>
          </c:dPt>
          <c:dLbls>
            <c:numFmt formatCode="#,##0" sourceLinked="0"/>
            <c:spPr>
              <a:noFill/>
              <a:ln>
                <a:noFill/>
              </a:ln>
              <a:effectLst/>
            </c:spPr>
            <c:txPr>
              <a:bodyPr/>
              <a:lstStyle/>
              <a:p>
                <a:pPr>
                  <a:defRPr sz="1000" b="0" i="0" u="none" strike="noStrike">
                    <a:solidFill>
                      <a:srgbClr val="2129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Ishurdi</c:v>
                </c:pt>
                <c:pt idx="1">
                  <c:v>Satkhira</c:v>
                </c:pt>
                <c:pt idx="2">
                  <c:v>Bogra</c:v>
                </c:pt>
                <c:pt idx="3">
                  <c:v>Faridpur</c:v>
                </c:pt>
                <c:pt idx="4">
                  <c:v>Barisal</c:v>
                </c:pt>
                <c:pt idx="5">
                  <c:v>Mymensingh</c:v>
                </c:pt>
                <c:pt idx="6">
                  <c:v>Bhola</c:v>
                </c:pt>
                <c:pt idx="7">
                  <c:v>Rangamati</c:v>
                </c:pt>
                <c:pt idx="8">
                  <c:v>CoxsBazar</c:v>
                </c:pt>
              </c:strCache>
            </c:strRef>
          </c:cat>
          <c:val>
            <c:numRef>
              <c:f>Sheet1!$B$2:$B$10</c:f>
              <c:numCache>
                <c:formatCode>General</c:formatCode>
                <c:ptCount val="9"/>
                <c:pt idx="0">
                  <c:v>4.13</c:v>
                </c:pt>
                <c:pt idx="1">
                  <c:v>4.45</c:v>
                </c:pt>
                <c:pt idx="2">
                  <c:v>4.63</c:v>
                </c:pt>
                <c:pt idx="3">
                  <c:v>4.91</c:v>
                </c:pt>
                <c:pt idx="4">
                  <c:v>5.62</c:v>
                </c:pt>
                <c:pt idx="5">
                  <c:v>5.64</c:v>
                </c:pt>
                <c:pt idx="6">
                  <c:v>6.05</c:v>
                </c:pt>
                <c:pt idx="7">
                  <c:v>6.72</c:v>
                </c:pt>
                <c:pt idx="8">
                  <c:v>9.59</c:v>
                </c:pt>
              </c:numCache>
            </c:numRef>
          </c:val>
          <c:extLst>
            <c:ext xmlns:c16="http://schemas.microsoft.com/office/drawing/2014/chart" uri="{C3380CC4-5D6E-409C-BE32-E72D297353CC}">
              <c16:uniqueId val="{00000012-C191-4DE6-8459-2BD0AB0931B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1295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Average Rainfall (mm)</c:v>
                </c:pt>
              </c:strCache>
            </c:strRef>
          </c:tx>
          <c:spPr>
            <a:ln w="38100" cap="flat">
              <a:solidFill>
                <a:srgbClr val="065A82"/>
              </a:solidFill>
              <a:prstDash val="solid"/>
              <a:round/>
            </a:ln>
            <a:effectLst/>
          </c:spPr>
          <c:marker>
            <c:symbol val="circle"/>
            <c:size val="5"/>
            <c:spPr>
              <a:solidFill>
                <a:srgbClr val="065A82"/>
              </a:solidFill>
              <a:ln w="9525" cap="flat">
                <a:solidFill>
                  <a:srgbClr val="065A82"/>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7.3</c:v>
                </c:pt>
                <c:pt idx="1">
                  <c:v>20.399999999999999</c:v>
                </c:pt>
                <c:pt idx="2">
                  <c:v>43</c:v>
                </c:pt>
                <c:pt idx="3">
                  <c:v>112</c:v>
                </c:pt>
                <c:pt idx="4">
                  <c:v>271.10000000000002</c:v>
                </c:pt>
                <c:pt idx="5">
                  <c:v>457.6</c:v>
                </c:pt>
                <c:pt idx="6">
                  <c:v>523.1</c:v>
                </c:pt>
                <c:pt idx="7">
                  <c:v>410.8</c:v>
                </c:pt>
                <c:pt idx="8">
                  <c:v>321.3</c:v>
                </c:pt>
                <c:pt idx="9">
                  <c:v>180</c:v>
                </c:pt>
                <c:pt idx="10">
                  <c:v>38.1</c:v>
                </c:pt>
                <c:pt idx="11">
                  <c:v>8.3000000000000007</c:v>
                </c:pt>
              </c:numCache>
            </c:numRef>
          </c:val>
          <c:smooth val="0"/>
          <c:extLst>
            <c:ext xmlns:c16="http://schemas.microsoft.com/office/drawing/2014/chart" uri="{C3380CC4-5D6E-409C-BE32-E72D297353CC}">
              <c16:uniqueId val="{00000000-3F54-42F2-9FD8-FF088419E90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Coefficient of Variation (%)</c:v>
                </c:pt>
              </c:strCache>
            </c:strRef>
          </c:tx>
          <c:spPr>
            <a:ln w="38100" cap="flat">
              <a:solidFill>
                <a:srgbClr val="F2704F"/>
              </a:solidFill>
              <a:prstDash val="solid"/>
              <a:round/>
            </a:ln>
            <a:effectLst/>
          </c:spPr>
          <c:marker>
            <c:symbol val="circle"/>
            <c:size val="5"/>
            <c:spPr>
              <a:solidFill>
                <a:srgbClr val="F2704F"/>
              </a:solidFill>
              <a:ln w="9525" cap="flat">
                <a:solidFill>
                  <a:srgbClr val="F2704F"/>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190.1</c:v>
                </c:pt>
                <c:pt idx="1">
                  <c:v>140.1</c:v>
                </c:pt>
                <c:pt idx="2">
                  <c:v>139.9</c:v>
                </c:pt>
                <c:pt idx="3">
                  <c:v>100.2</c:v>
                </c:pt>
                <c:pt idx="4">
                  <c:v>65</c:v>
                </c:pt>
                <c:pt idx="5">
                  <c:v>61.2</c:v>
                </c:pt>
                <c:pt idx="6">
                  <c:v>59.1</c:v>
                </c:pt>
                <c:pt idx="7">
                  <c:v>58.5</c:v>
                </c:pt>
                <c:pt idx="8">
                  <c:v>55</c:v>
                </c:pt>
                <c:pt idx="9">
                  <c:v>77.8</c:v>
                </c:pt>
                <c:pt idx="10">
                  <c:v>181.2</c:v>
                </c:pt>
                <c:pt idx="11">
                  <c:v>241</c:v>
                </c:pt>
              </c:numCache>
            </c:numRef>
          </c:val>
          <c:smooth val="0"/>
          <c:extLst>
            <c:ext xmlns:c16="http://schemas.microsoft.com/office/drawing/2014/chart" uri="{C3380CC4-5D6E-409C-BE32-E72D297353CC}">
              <c16:uniqueId val="{00000000-642E-4410-9747-2CE021D21C0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Barisal</c:v>
                </c:pt>
              </c:strCache>
            </c:strRef>
          </c:tx>
          <c:spPr>
            <a:ln w="31750" cap="flat">
              <a:solidFill>
                <a:srgbClr val="21295C"/>
              </a:solidFill>
              <a:prstDash val="solid"/>
              <a:round/>
            </a:ln>
            <a:effectLst/>
          </c:spPr>
          <c:marker>
            <c:symbol val="circle"/>
            <c:size val="4"/>
            <c:spPr>
              <a:solidFill>
                <a:srgbClr val="21295C"/>
              </a:solidFill>
              <a:ln w="9525" cap="flat">
                <a:solidFill>
                  <a:srgbClr val="21295C"/>
                </a:solidFill>
                <a:prstDash val="solid"/>
                <a:round/>
              </a:ln>
              <a:effectLst/>
            </c:spPr>
          </c:marker>
          <c:cat>
            <c:strRef>
              <c:f>Sheet1!$A$2:$A$6</c:f>
              <c:strCache>
                <c:ptCount val="5"/>
                <c:pt idx="0">
                  <c:v>1970s</c:v>
                </c:pt>
                <c:pt idx="1">
                  <c:v>1980s</c:v>
                </c:pt>
                <c:pt idx="2">
                  <c:v>1990s</c:v>
                </c:pt>
                <c:pt idx="3">
                  <c:v>2000s</c:v>
                </c:pt>
                <c:pt idx="4">
                  <c:v>2010s</c:v>
                </c:pt>
              </c:strCache>
            </c:strRef>
          </c:cat>
          <c:val>
            <c:numRef>
              <c:f>Sheet1!$B$2:$B$6</c:f>
              <c:numCache>
                <c:formatCode>General</c:formatCode>
                <c:ptCount val="5"/>
                <c:pt idx="0">
                  <c:v>23</c:v>
                </c:pt>
                <c:pt idx="1">
                  <c:v>14</c:v>
                </c:pt>
                <c:pt idx="2">
                  <c:v>21</c:v>
                </c:pt>
                <c:pt idx="3">
                  <c:v>15</c:v>
                </c:pt>
                <c:pt idx="4">
                  <c:v>21</c:v>
                </c:pt>
              </c:numCache>
            </c:numRef>
          </c:val>
          <c:smooth val="0"/>
          <c:extLst>
            <c:ext xmlns:c16="http://schemas.microsoft.com/office/drawing/2014/chart" uri="{C3380CC4-5D6E-409C-BE32-E72D297353CC}">
              <c16:uniqueId val="{00000000-FEF1-4AE1-AF18-A2477FDEF180}"/>
            </c:ext>
          </c:extLst>
        </c:ser>
        <c:ser>
          <c:idx val="1"/>
          <c:order val="1"/>
          <c:tx>
            <c:strRef>
              <c:f>Sheet1!$C$1</c:f>
              <c:strCache>
                <c:ptCount val="1"/>
                <c:pt idx="0">
                  <c:v>Bhola</c:v>
                </c:pt>
              </c:strCache>
            </c:strRef>
          </c:tx>
          <c:spPr>
            <a:ln w="31750" cap="flat">
              <a:solidFill>
                <a:srgbClr val="065A82"/>
              </a:solidFill>
              <a:prstDash val="solid"/>
              <a:round/>
            </a:ln>
            <a:effectLst/>
          </c:spPr>
          <c:marker>
            <c:symbol val="circle"/>
            <c:size val="4"/>
            <c:spPr>
              <a:solidFill>
                <a:srgbClr val="065A82"/>
              </a:solidFill>
              <a:ln w="9525" cap="flat">
                <a:solidFill>
                  <a:srgbClr val="065A82"/>
                </a:solidFill>
                <a:prstDash val="solid"/>
                <a:round/>
              </a:ln>
              <a:effectLst/>
            </c:spPr>
          </c:marker>
          <c:cat>
            <c:strRef>
              <c:f>Sheet1!$A$2:$A$6</c:f>
              <c:strCache>
                <c:ptCount val="5"/>
                <c:pt idx="0">
                  <c:v>1970s</c:v>
                </c:pt>
                <c:pt idx="1">
                  <c:v>1980s</c:v>
                </c:pt>
                <c:pt idx="2">
                  <c:v>1990s</c:v>
                </c:pt>
                <c:pt idx="3">
                  <c:v>2000s</c:v>
                </c:pt>
                <c:pt idx="4">
                  <c:v>2010s</c:v>
                </c:pt>
              </c:strCache>
            </c:strRef>
          </c:cat>
          <c:val>
            <c:numRef>
              <c:f>Sheet1!$C$2:$C$6</c:f>
              <c:numCache>
                <c:formatCode>General</c:formatCode>
                <c:ptCount val="5"/>
                <c:pt idx="0">
                  <c:v>44</c:v>
                </c:pt>
                <c:pt idx="1">
                  <c:v>18</c:v>
                </c:pt>
                <c:pt idx="2">
                  <c:v>18</c:v>
                </c:pt>
                <c:pt idx="3">
                  <c:v>16</c:v>
                </c:pt>
                <c:pt idx="4">
                  <c:v>20</c:v>
                </c:pt>
              </c:numCache>
            </c:numRef>
          </c:val>
          <c:smooth val="0"/>
          <c:extLst>
            <c:ext xmlns:c16="http://schemas.microsoft.com/office/drawing/2014/chart" uri="{C3380CC4-5D6E-409C-BE32-E72D297353CC}">
              <c16:uniqueId val="{00000001-FEF1-4AE1-AF18-A2477FDEF180}"/>
            </c:ext>
          </c:extLst>
        </c:ser>
        <c:ser>
          <c:idx val="2"/>
          <c:order val="2"/>
          <c:tx>
            <c:strRef>
              <c:f>Sheet1!$D$1</c:f>
              <c:strCache>
                <c:ptCount val="1"/>
                <c:pt idx="0">
                  <c:v>Bogra</c:v>
                </c:pt>
              </c:strCache>
            </c:strRef>
          </c:tx>
          <c:spPr>
            <a:ln w="31750" cap="flat">
              <a:solidFill>
                <a:srgbClr val="1C7293"/>
              </a:solidFill>
              <a:prstDash val="solid"/>
              <a:round/>
            </a:ln>
            <a:effectLst/>
          </c:spPr>
          <c:marker>
            <c:symbol val="circle"/>
            <c:size val="4"/>
            <c:spPr>
              <a:solidFill>
                <a:srgbClr val="1C7293"/>
              </a:solidFill>
              <a:ln w="9525" cap="flat">
                <a:solidFill>
                  <a:srgbClr val="1C7293"/>
                </a:solidFill>
                <a:prstDash val="solid"/>
                <a:round/>
              </a:ln>
              <a:effectLst/>
            </c:spPr>
          </c:marker>
          <c:cat>
            <c:strRef>
              <c:f>Sheet1!$A$2:$A$6</c:f>
              <c:strCache>
                <c:ptCount val="5"/>
                <c:pt idx="0">
                  <c:v>1970s</c:v>
                </c:pt>
                <c:pt idx="1">
                  <c:v>1980s</c:v>
                </c:pt>
                <c:pt idx="2">
                  <c:v>1990s</c:v>
                </c:pt>
                <c:pt idx="3">
                  <c:v>2000s</c:v>
                </c:pt>
                <c:pt idx="4">
                  <c:v>2010s</c:v>
                </c:pt>
              </c:strCache>
            </c:strRef>
          </c:cat>
          <c:val>
            <c:numRef>
              <c:f>Sheet1!$D$2:$D$6</c:f>
              <c:numCache>
                <c:formatCode>General</c:formatCode>
                <c:ptCount val="5"/>
                <c:pt idx="0">
                  <c:v>29</c:v>
                </c:pt>
                <c:pt idx="1">
                  <c:v>21</c:v>
                </c:pt>
                <c:pt idx="2">
                  <c:v>24</c:v>
                </c:pt>
                <c:pt idx="3">
                  <c:v>19</c:v>
                </c:pt>
                <c:pt idx="4">
                  <c:v>19</c:v>
                </c:pt>
              </c:numCache>
            </c:numRef>
          </c:val>
          <c:smooth val="0"/>
          <c:extLst>
            <c:ext xmlns:c16="http://schemas.microsoft.com/office/drawing/2014/chart" uri="{C3380CC4-5D6E-409C-BE32-E72D297353CC}">
              <c16:uniqueId val="{00000002-FEF1-4AE1-AF18-A2477FDEF180}"/>
            </c:ext>
          </c:extLst>
        </c:ser>
        <c:ser>
          <c:idx val="3"/>
          <c:order val="3"/>
          <c:tx>
            <c:strRef>
              <c:f>Sheet1!$E$1</c:f>
              <c:strCache>
                <c:ptCount val="1"/>
                <c:pt idx="0">
                  <c:v>CoxsBazar</c:v>
                </c:pt>
              </c:strCache>
            </c:strRef>
          </c:tx>
          <c:spPr>
            <a:ln w="31750" cap="flat">
              <a:solidFill>
                <a:srgbClr val="3AAFA9"/>
              </a:solidFill>
              <a:prstDash val="solid"/>
              <a:round/>
            </a:ln>
            <a:effectLst/>
          </c:spPr>
          <c:marker>
            <c:symbol val="circle"/>
            <c:size val="4"/>
            <c:spPr>
              <a:solidFill>
                <a:srgbClr val="3AAFA9"/>
              </a:solidFill>
              <a:ln w="9525" cap="flat">
                <a:solidFill>
                  <a:srgbClr val="3AAFA9"/>
                </a:solidFill>
                <a:prstDash val="solid"/>
                <a:round/>
              </a:ln>
              <a:effectLst/>
            </c:spPr>
          </c:marker>
          <c:cat>
            <c:strRef>
              <c:f>Sheet1!$A$2:$A$6</c:f>
              <c:strCache>
                <c:ptCount val="5"/>
                <c:pt idx="0">
                  <c:v>1970s</c:v>
                </c:pt>
                <c:pt idx="1">
                  <c:v>1980s</c:v>
                </c:pt>
                <c:pt idx="2">
                  <c:v>1990s</c:v>
                </c:pt>
                <c:pt idx="3">
                  <c:v>2000s</c:v>
                </c:pt>
                <c:pt idx="4">
                  <c:v>2010s</c:v>
                </c:pt>
              </c:strCache>
            </c:strRef>
          </c:cat>
          <c:val>
            <c:numRef>
              <c:f>Sheet1!$E$2:$E$6</c:f>
              <c:numCache>
                <c:formatCode>General</c:formatCode>
                <c:ptCount val="5"/>
                <c:pt idx="0">
                  <c:v>35</c:v>
                </c:pt>
                <c:pt idx="1">
                  <c:v>31</c:v>
                </c:pt>
                <c:pt idx="2">
                  <c:v>12</c:v>
                </c:pt>
                <c:pt idx="3">
                  <c:v>12</c:v>
                </c:pt>
                <c:pt idx="4">
                  <c:v>20</c:v>
                </c:pt>
              </c:numCache>
            </c:numRef>
          </c:val>
          <c:smooth val="0"/>
          <c:extLst>
            <c:ext xmlns:c16="http://schemas.microsoft.com/office/drawing/2014/chart" uri="{C3380CC4-5D6E-409C-BE32-E72D297353CC}">
              <c16:uniqueId val="{00000003-FEF1-4AE1-AF18-A2477FDEF180}"/>
            </c:ext>
          </c:extLst>
        </c:ser>
        <c:ser>
          <c:idx val="4"/>
          <c:order val="4"/>
          <c:tx>
            <c:strRef>
              <c:f>Sheet1!$F$1</c:f>
              <c:strCache>
                <c:ptCount val="1"/>
                <c:pt idx="0">
                  <c:v>Faridpur</c:v>
                </c:pt>
              </c:strCache>
            </c:strRef>
          </c:tx>
          <c:spPr>
            <a:ln w="31750" cap="flat">
              <a:solidFill>
                <a:srgbClr val="6FB3D2"/>
              </a:solidFill>
              <a:prstDash val="solid"/>
              <a:round/>
            </a:ln>
            <a:effectLst/>
          </c:spPr>
          <c:marker>
            <c:symbol val="circle"/>
            <c:size val="4"/>
            <c:spPr>
              <a:solidFill>
                <a:srgbClr val="6FB3D2"/>
              </a:solidFill>
              <a:ln w="9525" cap="flat">
                <a:solidFill>
                  <a:srgbClr val="6FB3D2"/>
                </a:solidFill>
                <a:prstDash val="solid"/>
                <a:round/>
              </a:ln>
              <a:effectLst/>
            </c:spPr>
          </c:marker>
          <c:cat>
            <c:strRef>
              <c:f>Sheet1!$A$2:$A$6</c:f>
              <c:strCache>
                <c:ptCount val="5"/>
                <c:pt idx="0">
                  <c:v>1970s</c:v>
                </c:pt>
                <c:pt idx="1">
                  <c:v>1980s</c:v>
                </c:pt>
                <c:pt idx="2">
                  <c:v>1990s</c:v>
                </c:pt>
                <c:pt idx="3">
                  <c:v>2000s</c:v>
                </c:pt>
                <c:pt idx="4">
                  <c:v>2010s</c:v>
                </c:pt>
              </c:strCache>
            </c:strRef>
          </c:cat>
          <c:val>
            <c:numRef>
              <c:f>Sheet1!$F$2:$F$6</c:f>
              <c:numCache>
                <c:formatCode>General</c:formatCode>
                <c:ptCount val="5"/>
                <c:pt idx="0">
                  <c:v>23</c:v>
                </c:pt>
                <c:pt idx="1">
                  <c:v>20</c:v>
                </c:pt>
                <c:pt idx="2">
                  <c:v>18</c:v>
                </c:pt>
                <c:pt idx="3">
                  <c:v>16</c:v>
                </c:pt>
                <c:pt idx="4">
                  <c:v>11</c:v>
                </c:pt>
              </c:numCache>
            </c:numRef>
          </c:val>
          <c:smooth val="0"/>
          <c:extLst>
            <c:ext xmlns:c16="http://schemas.microsoft.com/office/drawing/2014/chart" uri="{C3380CC4-5D6E-409C-BE32-E72D297353CC}">
              <c16:uniqueId val="{00000004-FEF1-4AE1-AF18-A2477FDEF180}"/>
            </c:ext>
          </c:extLst>
        </c:ser>
        <c:ser>
          <c:idx val="5"/>
          <c:order val="5"/>
          <c:tx>
            <c:strRef>
              <c:f>Sheet1!$G$1</c:f>
              <c:strCache>
                <c:ptCount val="1"/>
                <c:pt idx="0">
                  <c:v>Ishurdi</c:v>
                </c:pt>
              </c:strCache>
            </c:strRef>
          </c:tx>
          <c:spPr>
            <a:ln w="31750" cap="flat">
              <a:solidFill>
                <a:srgbClr val="F2704F"/>
              </a:solidFill>
              <a:prstDash val="solid"/>
              <a:round/>
            </a:ln>
            <a:effectLst/>
          </c:spPr>
          <c:marker>
            <c:symbol val="circle"/>
            <c:size val="4"/>
            <c:spPr>
              <a:solidFill>
                <a:srgbClr val="F2704F"/>
              </a:solidFill>
              <a:ln w="9525" cap="flat">
                <a:solidFill>
                  <a:srgbClr val="F2704F"/>
                </a:solidFill>
                <a:prstDash val="solid"/>
                <a:round/>
              </a:ln>
              <a:effectLst/>
            </c:spPr>
          </c:marker>
          <c:cat>
            <c:strRef>
              <c:f>Sheet1!$A$2:$A$6</c:f>
              <c:strCache>
                <c:ptCount val="5"/>
                <c:pt idx="0">
                  <c:v>1970s</c:v>
                </c:pt>
                <c:pt idx="1">
                  <c:v>1980s</c:v>
                </c:pt>
                <c:pt idx="2">
                  <c:v>1990s</c:v>
                </c:pt>
                <c:pt idx="3">
                  <c:v>2000s</c:v>
                </c:pt>
                <c:pt idx="4">
                  <c:v>2010s</c:v>
                </c:pt>
              </c:strCache>
            </c:strRef>
          </c:cat>
          <c:val>
            <c:numRef>
              <c:f>Sheet1!$G$2:$G$6</c:f>
              <c:numCache>
                <c:formatCode>General</c:formatCode>
                <c:ptCount val="5"/>
                <c:pt idx="0">
                  <c:v>43</c:v>
                </c:pt>
                <c:pt idx="1">
                  <c:v>20</c:v>
                </c:pt>
                <c:pt idx="2">
                  <c:v>22</c:v>
                </c:pt>
                <c:pt idx="3">
                  <c:v>17</c:v>
                </c:pt>
                <c:pt idx="4">
                  <c:v>23</c:v>
                </c:pt>
              </c:numCache>
            </c:numRef>
          </c:val>
          <c:smooth val="0"/>
          <c:extLst>
            <c:ext xmlns:c16="http://schemas.microsoft.com/office/drawing/2014/chart" uri="{C3380CC4-5D6E-409C-BE32-E72D297353CC}">
              <c16:uniqueId val="{00000005-FEF1-4AE1-AF18-A2477FDEF180}"/>
            </c:ext>
          </c:extLst>
        </c:ser>
        <c:ser>
          <c:idx val="6"/>
          <c:order val="6"/>
          <c:tx>
            <c:strRef>
              <c:f>Sheet1!$H$1</c:f>
              <c:strCache>
                <c:ptCount val="1"/>
                <c:pt idx="0">
                  <c:v>Mymensingh</c:v>
                </c:pt>
              </c:strCache>
            </c:strRef>
          </c:tx>
          <c:spPr>
            <a:ln w="31750" cap="flat">
              <a:solidFill>
                <a:srgbClr val="9A6CC2"/>
              </a:solidFill>
              <a:prstDash val="solid"/>
              <a:round/>
            </a:ln>
            <a:effectLst/>
          </c:spPr>
          <c:marker>
            <c:symbol val="circle"/>
            <c:size val="4"/>
            <c:spPr>
              <a:solidFill>
                <a:srgbClr val="9A6CC2"/>
              </a:solidFill>
              <a:ln w="9525" cap="flat">
                <a:solidFill>
                  <a:srgbClr val="9A6CC2"/>
                </a:solidFill>
                <a:prstDash val="solid"/>
                <a:round/>
              </a:ln>
              <a:effectLst/>
            </c:spPr>
          </c:marker>
          <c:cat>
            <c:strRef>
              <c:f>Sheet1!$A$2:$A$6</c:f>
              <c:strCache>
                <c:ptCount val="5"/>
                <c:pt idx="0">
                  <c:v>1970s</c:v>
                </c:pt>
                <c:pt idx="1">
                  <c:v>1980s</c:v>
                </c:pt>
                <c:pt idx="2">
                  <c:v>1990s</c:v>
                </c:pt>
                <c:pt idx="3">
                  <c:v>2000s</c:v>
                </c:pt>
                <c:pt idx="4">
                  <c:v>2010s</c:v>
                </c:pt>
              </c:strCache>
            </c:strRef>
          </c:cat>
          <c:val>
            <c:numRef>
              <c:f>Sheet1!$H$2:$H$6</c:f>
              <c:numCache>
                <c:formatCode>General</c:formatCode>
                <c:ptCount val="5"/>
                <c:pt idx="0">
                  <c:v>53</c:v>
                </c:pt>
                <c:pt idx="1">
                  <c:v>19</c:v>
                </c:pt>
                <c:pt idx="2">
                  <c:v>27</c:v>
                </c:pt>
                <c:pt idx="3">
                  <c:v>17</c:v>
                </c:pt>
                <c:pt idx="4">
                  <c:v>12</c:v>
                </c:pt>
              </c:numCache>
            </c:numRef>
          </c:val>
          <c:smooth val="0"/>
          <c:extLst>
            <c:ext xmlns:c16="http://schemas.microsoft.com/office/drawing/2014/chart" uri="{C3380CC4-5D6E-409C-BE32-E72D297353CC}">
              <c16:uniqueId val="{00000006-FEF1-4AE1-AF18-A2477FDEF180}"/>
            </c:ext>
          </c:extLst>
        </c:ser>
        <c:ser>
          <c:idx val="7"/>
          <c:order val="7"/>
          <c:tx>
            <c:strRef>
              <c:f>Sheet1!$I$1</c:f>
              <c:strCache>
                <c:ptCount val="1"/>
                <c:pt idx="0">
                  <c:v>Rangamati</c:v>
                </c:pt>
              </c:strCache>
            </c:strRef>
          </c:tx>
          <c:spPr>
            <a:ln w="31750" cap="flat">
              <a:solidFill>
                <a:srgbClr val="B0A45C"/>
              </a:solidFill>
              <a:prstDash val="solid"/>
              <a:round/>
            </a:ln>
            <a:effectLst/>
          </c:spPr>
          <c:marker>
            <c:symbol val="circle"/>
            <c:size val="4"/>
            <c:spPr>
              <a:solidFill>
                <a:srgbClr val="B0A45C"/>
              </a:solidFill>
              <a:ln w="9525" cap="flat">
                <a:solidFill>
                  <a:srgbClr val="B0A45C"/>
                </a:solidFill>
                <a:prstDash val="solid"/>
                <a:round/>
              </a:ln>
              <a:effectLst/>
            </c:spPr>
          </c:marker>
          <c:cat>
            <c:strRef>
              <c:f>Sheet1!$A$2:$A$6</c:f>
              <c:strCache>
                <c:ptCount val="5"/>
                <c:pt idx="0">
                  <c:v>1970s</c:v>
                </c:pt>
                <c:pt idx="1">
                  <c:v>1980s</c:v>
                </c:pt>
                <c:pt idx="2">
                  <c:v>1990s</c:v>
                </c:pt>
                <c:pt idx="3">
                  <c:v>2000s</c:v>
                </c:pt>
                <c:pt idx="4">
                  <c:v>2010s</c:v>
                </c:pt>
              </c:strCache>
            </c:strRef>
          </c:cat>
          <c:val>
            <c:numRef>
              <c:f>Sheet1!$I$2:$I$6</c:f>
              <c:numCache>
                <c:formatCode>General</c:formatCode>
                <c:ptCount val="5"/>
                <c:pt idx="0">
                  <c:v>19</c:v>
                </c:pt>
                <c:pt idx="1">
                  <c:v>24</c:v>
                </c:pt>
                <c:pt idx="2">
                  <c:v>25</c:v>
                </c:pt>
                <c:pt idx="3">
                  <c:v>18</c:v>
                </c:pt>
                <c:pt idx="4">
                  <c:v>21</c:v>
                </c:pt>
              </c:numCache>
            </c:numRef>
          </c:val>
          <c:smooth val="0"/>
          <c:extLst>
            <c:ext xmlns:c16="http://schemas.microsoft.com/office/drawing/2014/chart" uri="{C3380CC4-5D6E-409C-BE32-E72D297353CC}">
              <c16:uniqueId val="{00000007-FEF1-4AE1-AF18-A2477FDEF180}"/>
            </c:ext>
          </c:extLst>
        </c:ser>
        <c:ser>
          <c:idx val="8"/>
          <c:order val="8"/>
          <c:tx>
            <c:strRef>
              <c:f>Sheet1!$J$1</c:f>
              <c:strCache>
                <c:ptCount val="1"/>
                <c:pt idx="0">
                  <c:v>Satkhira</c:v>
                </c:pt>
              </c:strCache>
            </c:strRef>
          </c:tx>
          <c:spPr>
            <a:ln w="31750" cap="flat">
              <a:solidFill>
                <a:srgbClr val="6B7A8F"/>
              </a:solidFill>
              <a:prstDash val="solid"/>
              <a:round/>
            </a:ln>
            <a:effectLst/>
          </c:spPr>
          <c:marker>
            <c:symbol val="circle"/>
            <c:size val="4"/>
            <c:spPr>
              <a:solidFill>
                <a:srgbClr val="6B7A8F"/>
              </a:solidFill>
              <a:ln w="9525" cap="flat">
                <a:solidFill>
                  <a:srgbClr val="6B7A8F"/>
                </a:solidFill>
                <a:prstDash val="solid"/>
                <a:round/>
              </a:ln>
              <a:effectLst/>
            </c:spPr>
          </c:marker>
          <c:cat>
            <c:strRef>
              <c:f>Sheet1!$A$2:$A$6</c:f>
              <c:strCache>
                <c:ptCount val="5"/>
                <c:pt idx="0">
                  <c:v>1970s</c:v>
                </c:pt>
                <c:pt idx="1">
                  <c:v>1980s</c:v>
                </c:pt>
                <c:pt idx="2">
                  <c:v>1990s</c:v>
                </c:pt>
                <c:pt idx="3">
                  <c:v>2000s</c:v>
                </c:pt>
                <c:pt idx="4">
                  <c:v>2010s</c:v>
                </c:pt>
              </c:strCache>
            </c:strRef>
          </c:cat>
          <c:val>
            <c:numRef>
              <c:f>Sheet1!$J$2:$J$6</c:f>
              <c:numCache>
                <c:formatCode>General</c:formatCode>
                <c:ptCount val="5"/>
                <c:pt idx="0">
                  <c:v>40</c:v>
                </c:pt>
                <c:pt idx="1">
                  <c:v>22</c:v>
                </c:pt>
                <c:pt idx="2">
                  <c:v>10</c:v>
                </c:pt>
                <c:pt idx="3">
                  <c:v>11</c:v>
                </c:pt>
                <c:pt idx="4">
                  <c:v>20</c:v>
                </c:pt>
              </c:numCache>
            </c:numRef>
          </c:val>
          <c:smooth val="0"/>
          <c:extLst>
            <c:ext xmlns:c16="http://schemas.microsoft.com/office/drawing/2014/chart" uri="{C3380CC4-5D6E-409C-BE32-E72D297353CC}">
              <c16:uniqueId val="{00000008-FEF1-4AE1-AF18-A2477FDEF18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1295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EE"/>
              </a:solidFill>
              <a:prstDash val="solid"/>
              <a:round/>
            </a:ln>
          </c:spPr>
        </c:majorGridlines>
        <c:title>
          <c:tx>
            <c:rich>
              <a:bodyPr/>
              <a:lstStyle/>
              <a:p>
                <a:pPr>
                  <a:defRPr sz="1100" b="0" i="0" u="none" strike="noStrike">
                    <a:solidFill>
                      <a:srgbClr val="6B7A8F"/>
                    </a:solidFill>
                    <a:latin typeface="Arial"/>
                  </a:defRPr>
                </a:pPr>
                <a:r>
                  <a:rPr lang="en-US" sz="1100" b="0" i="0" u="none" strike="noStrike">
                    <a:solidFill>
                      <a:srgbClr val="6B7A8F"/>
                    </a:solidFill>
                    <a:latin typeface="Arial"/>
                  </a:rPr>
                  <a:t>Coefficient of Variation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F"/>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21295C"/>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Extreme rainfall share</c:v>
                </c:pt>
              </c:strCache>
            </c:strRef>
          </c:tx>
          <c:spPr>
            <a:solidFill>
              <a:schemeClr val="accent1"/>
            </a:solidFill>
            <a:ln w="9525" cap="flat">
              <a:solidFill>
                <a:srgbClr val="F9F9F9"/>
              </a:solidFill>
              <a:prstDash val="solid"/>
              <a:round/>
            </a:ln>
            <a:effectLst/>
          </c:spPr>
          <c:dPt>
            <c:idx val="0"/>
            <c:bubble3D val="0"/>
            <c:spPr>
              <a:solidFill>
                <a:srgbClr val="F2704F"/>
              </a:solidFill>
              <a:effectLst/>
            </c:spPr>
            <c:extLst>
              <c:ext xmlns:c16="http://schemas.microsoft.com/office/drawing/2014/chart" uri="{C3380CC4-5D6E-409C-BE32-E72D297353CC}">
                <c16:uniqueId val="{00000001-BC7F-44A7-95D6-69E500E866DF}"/>
              </c:ext>
            </c:extLst>
          </c:dPt>
          <c:dPt>
            <c:idx val="1"/>
            <c:bubble3D val="0"/>
            <c:spPr>
              <a:solidFill>
                <a:srgbClr val="1C7293"/>
              </a:solidFill>
              <a:effectLst/>
            </c:spPr>
            <c:extLst>
              <c:ext xmlns:c16="http://schemas.microsoft.com/office/drawing/2014/chart" uri="{C3380CC4-5D6E-409C-BE32-E72D297353CC}">
                <c16:uniqueId val="{00000003-BC7F-44A7-95D6-69E500E866DF}"/>
              </c:ext>
            </c:extLst>
          </c:dPt>
          <c:dPt>
            <c:idx val="2"/>
            <c:bubble3D val="0"/>
            <c:spPr>
              <a:solidFill>
                <a:srgbClr val="6FB3D2"/>
              </a:solidFill>
              <a:effectLst/>
            </c:spPr>
            <c:extLst>
              <c:ext xmlns:c16="http://schemas.microsoft.com/office/drawing/2014/chart" uri="{C3380CC4-5D6E-409C-BE32-E72D297353CC}">
                <c16:uniqueId val="{00000005-BC7F-44A7-95D6-69E500E866DF}"/>
              </c:ext>
            </c:extLst>
          </c:dPt>
          <c:dPt>
            <c:idx val="3"/>
            <c:bubble3D val="0"/>
            <c:spPr>
              <a:solidFill>
                <a:srgbClr val="CADCFC"/>
              </a:solidFill>
              <a:effectLst/>
            </c:spPr>
            <c:extLst>
              <c:ext xmlns:c16="http://schemas.microsoft.com/office/drawing/2014/chart" uri="{C3380CC4-5D6E-409C-BE32-E72D297353CC}">
                <c16:uniqueId val="{00000007-BC7F-44A7-95D6-69E500E866DF}"/>
              </c:ext>
            </c:extLst>
          </c:dPt>
          <c:dLbls>
            <c:dLbl>
              <c:idx val="0"/>
              <c:layout>
                <c:manualLayout>
                  <c:x val="-2.8324836799246248E-2"/>
                  <c:y val="-0.1813672353455818"/>
                </c:manualLayout>
              </c:layout>
              <c:numFmt formatCode="0.0" sourceLinked="0"/>
              <c:spPr/>
              <c:txPr>
                <a:bodyPr/>
                <a:lstStyle/>
                <a:p>
                  <a:pPr>
                    <a:defRPr sz="2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7F-44A7-95D6-69E500E866DF}"/>
                </c:ext>
              </c:extLst>
            </c:dLbl>
            <c:dLbl>
              <c:idx val="1"/>
              <c:numFmt formatCode="0.0" sourceLinked="0"/>
              <c:spPr/>
              <c:txPr>
                <a:bodyPr/>
                <a:lstStyle/>
                <a:p>
                  <a:pPr>
                    <a:defRPr sz="2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7F-44A7-95D6-69E500E866DF}"/>
                </c:ext>
              </c:extLst>
            </c:dLbl>
            <c:dLbl>
              <c:idx val="2"/>
              <c:layout>
                <c:manualLayout>
                  <c:x val="3.0717410323709535E-2"/>
                  <c:y val="4.5138888888888888E-2"/>
                </c:manualLayout>
              </c:layout>
              <c:numFmt formatCode="0.0" sourceLinked="0"/>
              <c:spPr/>
              <c:txPr>
                <a:bodyPr/>
                <a:lstStyle/>
                <a:p>
                  <a:pPr>
                    <a:defRPr sz="2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C7F-44A7-95D6-69E500E866DF}"/>
                </c:ext>
              </c:extLst>
            </c:dLbl>
            <c:dLbl>
              <c:idx val="3"/>
              <c:delete val="1"/>
              <c:extLst>
                <c:ext xmlns:c15="http://schemas.microsoft.com/office/drawing/2012/chart" uri="{CE6537A1-D6FC-4f65-9D91-7224C49458BB}"/>
                <c:ext xmlns:c16="http://schemas.microsoft.com/office/drawing/2014/chart" uri="{C3380CC4-5D6E-409C-BE32-E72D297353CC}">
                  <c16:uniqueId val="{00000007-BC7F-44A7-95D6-69E500E866DF}"/>
                </c:ext>
              </c:extLst>
            </c:dLbl>
            <c:numFmt formatCode="0.0" sourceLinked="0"/>
            <c:spPr>
              <a:noFill/>
              <a:ln>
                <a:noFill/>
              </a:ln>
              <a:effectLst/>
            </c:spPr>
            <c:txPr>
              <a:bodyPr/>
              <a:lstStyle/>
              <a:p>
                <a:pPr>
                  <a:defRPr sz="20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Monsoon</c:v>
                </c:pt>
                <c:pt idx="1">
                  <c:v>Pre-monsoon</c:v>
                </c:pt>
                <c:pt idx="2">
                  <c:v>Post-monsoon</c:v>
                </c:pt>
                <c:pt idx="3">
                  <c:v>Winter</c:v>
                </c:pt>
              </c:strCache>
            </c:strRef>
          </c:cat>
          <c:val>
            <c:numRef>
              <c:f>Sheet1!$B$2:$B$5</c:f>
              <c:numCache>
                <c:formatCode>General</c:formatCode>
                <c:ptCount val="4"/>
                <c:pt idx="0">
                  <c:v>93</c:v>
                </c:pt>
                <c:pt idx="1">
                  <c:v>6.3</c:v>
                </c:pt>
                <c:pt idx="2">
                  <c:v>0.7</c:v>
                </c:pt>
                <c:pt idx="3">
                  <c:v>0</c:v>
                </c:pt>
              </c:numCache>
            </c:numRef>
          </c:val>
          <c:extLst>
            <c:ext xmlns:c16="http://schemas.microsoft.com/office/drawing/2014/chart" uri="{C3380CC4-5D6E-409C-BE32-E72D297353CC}">
              <c16:uniqueId val="{00000008-BC7F-44A7-95D6-69E500E866D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FFFFFF"/>
              </a:solidFill>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Stations</c:v>
                </c:pt>
              </c:strCache>
            </c:strRef>
          </c:tx>
          <c:spPr>
            <a:ln>
              <a:noFill/>
            </a:ln>
            <a:effectLst/>
          </c:spPr>
          <c:marker>
            <c:symbol val="circle"/>
            <c:size val="10"/>
            <c:spPr>
              <a:solidFill>
                <a:srgbClr val="065A82"/>
              </a:solidFill>
              <a:ln w="9525" cap="flat">
                <a:solidFill>
                  <a:srgbClr val="065A82"/>
                </a:solidFill>
                <a:prstDash val="solid"/>
                <a:round/>
              </a:ln>
              <a:effectLst/>
            </c:spPr>
          </c:marker>
          <c:xVal>
            <c:numRef>
              <c:f>Sheet1!$A$2:$A$10</c:f>
              <c:numCache>
                <c:formatCode>General</c:formatCode>
                <c:ptCount val="9"/>
                <c:pt idx="0">
                  <c:v>4.13</c:v>
                </c:pt>
                <c:pt idx="1">
                  <c:v>4.45</c:v>
                </c:pt>
                <c:pt idx="2">
                  <c:v>4.63</c:v>
                </c:pt>
                <c:pt idx="3">
                  <c:v>4.91</c:v>
                </c:pt>
                <c:pt idx="4">
                  <c:v>5.62</c:v>
                </c:pt>
                <c:pt idx="5">
                  <c:v>5.64</c:v>
                </c:pt>
                <c:pt idx="6">
                  <c:v>6.05</c:v>
                </c:pt>
                <c:pt idx="7">
                  <c:v>6.72</c:v>
                </c:pt>
                <c:pt idx="8">
                  <c:v>9.59</c:v>
                </c:pt>
              </c:numCache>
            </c:numRef>
          </c:xVal>
          <c:yVal>
            <c:numRef>
              <c:f>Sheet1!$B$2:$B$10</c:f>
              <c:numCache>
                <c:formatCode>General</c:formatCode>
                <c:ptCount val="9"/>
                <c:pt idx="0">
                  <c:v>25</c:v>
                </c:pt>
                <c:pt idx="1">
                  <c:v>20.6</c:v>
                </c:pt>
                <c:pt idx="2">
                  <c:v>22.4</c:v>
                </c:pt>
                <c:pt idx="3">
                  <c:v>17.600000000000001</c:v>
                </c:pt>
                <c:pt idx="4">
                  <c:v>18.8</c:v>
                </c:pt>
                <c:pt idx="5">
                  <c:v>25.6</c:v>
                </c:pt>
                <c:pt idx="6">
                  <c:v>23.2</c:v>
                </c:pt>
                <c:pt idx="7">
                  <c:v>21.4</c:v>
                </c:pt>
                <c:pt idx="8">
                  <c:v>22</c:v>
                </c:pt>
              </c:numCache>
            </c:numRef>
          </c:yVal>
          <c:smooth val="0"/>
          <c:extLst>
            <c:ext xmlns:c16="http://schemas.microsoft.com/office/drawing/2014/chart" uri="{C3380CC4-5D6E-409C-BE32-E72D297353CC}">
              <c16:uniqueId val="{00000000-6E46-4E35-8615-4FDF28EF897E}"/>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E4E9EE"/>
              </a:solidFill>
              <a:prstDash val="solid"/>
              <a:round/>
            </a:ln>
          </c:spPr>
        </c:majorGridlines>
        <c:title>
          <c:tx>
            <c:rich>
              <a:bodyPr/>
              <a:lstStyle/>
              <a:p>
                <a:pPr>
                  <a:defRPr sz="1100" b="0" i="0" u="none" strike="noStrike">
                    <a:solidFill>
                      <a:srgbClr val="6B7A8F"/>
                    </a:solidFill>
                    <a:latin typeface="Arial"/>
                  </a:defRPr>
                </a:pPr>
                <a:r>
                  <a:rPr lang="en-US" sz="1100" b="0" i="0" u="none" strike="noStrike">
                    <a:solidFill>
                      <a:srgbClr val="6B7A8F"/>
                    </a:solidFill>
                    <a:latin typeface="Arial"/>
                  </a:rPr>
                  <a:t>Average Rainfall (mm)</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E4E9EE"/>
              </a:solidFill>
              <a:prstDash val="solid"/>
              <a:round/>
            </a:ln>
          </c:spPr>
        </c:majorGridlines>
        <c:title>
          <c:tx>
            <c:rich>
              <a:bodyPr/>
              <a:lstStyle/>
              <a:p>
                <a:pPr>
                  <a:defRPr sz="1100" b="0" i="0" u="none" strike="noStrike">
                    <a:solidFill>
                      <a:srgbClr val="6B7A8F"/>
                    </a:solidFill>
                    <a:latin typeface="Arial"/>
                  </a:defRPr>
                </a:pPr>
                <a:r>
                  <a:rPr lang="en-US" sz="1100" b="0" i="0" u="none" strike="noStrike">
                    <a:solidFill>
                      <a:srgbClr val="6B7A8F"/>
                    </a:solidFill>
                    <a:latin typeface="Arial"/>
                  </a:rPr>
                  <a:t>Coefficient of Variation (%)</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7A8F"/>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7165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65A82">
              <a:alpha val="45000"/>
            </a:srgbClr>
          </a:solidFill>
          <a:ln/>
        </p:spPr>
        <p:txBody>
          <a:bodyPr/>
          <a:lstStyle/>
          <a:p>
            <a:endParaRPr lang="en-US"/>
          </a:p>
        </p:txBody>
      </p:sp>
      <p:sp>
        <p:nvSpPr>
          <p:cNvPr id="3" name="Shape 1"/>
          <p:cNvSpPr/>
          <p:nvPr/>
        </p:nvSpPr>
        <p:spPr>
          <a:xfrm>
            <a:off x="10241280" y="4206240"/>
            <a:ext cx="3840480" cy="3840480"/>
          </a:xfrm>
          <a:prstGeom prst="ellipse">
            <a:avLst/>
          </a:prstGeom>
          <a:solidFill>
            <a:srgbClr val="1C7293">
              <a:alpha val="45000"/>
            </a:srgbClr>
          </a:solidFill>
          <a:ln/>
        </p:spPr>
        <p:txBody>
          <a:bodyPr/>
          <a:lstStyle/>
          <a:p>
            <a:endParaRPr lang="en-US"/>
          </a:p>
        </p:txBody>
      </p:sp>
      <p:sp>
        <p:nvSpPr>
          <p:cNvPr id="4" name="Shape 2"/>
          <p:cNvSpPr/>
          <p:nvPr/>
        </p:nvSpPr>
        <p:spPr>
          <a:xfrm>
            <a:off x="822960" y="914400"/>
            <a:ext cx="1005840" cy="1005840"/>
          </a:xfrm>
          <a:prstGeom prst="ellipse">
            <a:avLst/>
          </a:prstGeom>
          <a:solidFill>
            <a:srgbClr val="1C7293"/>
          </a:solidFill>
          <a:ln/>
        </p:spPr>
        <p:txBody>
          <a:bodyPr/>
          <a:lstStyle/>
          <a:p>
            <a:endParaRPr lang="en-US"/>
          </a:p>
        </p:txBody>
      </p:sp>
      <p:pic>
        <p:nvPicPr>
          <p:cNvPr id="5" name="Image 0" descr="/home/claude/pptx_build/icons/cloudrain_white.png"/>
          <p:cNvPicPr>
            <a:picLocks noChangeAspect="1"/>
          </p:cNvPicPr>
          <p:nvPr/>
        </p:nvPicPr>
        <p:blipFill>
          <a:blip r:embed="rId3"/>
          <a:stretch>
            <a:fillRect/>
          </a:stretch>
        </p:blipFill>
        <p:spPr>
          <a:xfrm>
            <a:off x="1044245" y="1135685"/>
            <a:ext cx="563270" cy="563270"/>
          </a:xfrm>
          <a:prstGeom prst="rect">
            <a:avLst/>
          </a:prstGeom>
        </p:spPr>
      </p:pic>
      <p:sp>
        <p:nvSpPr>
          <p:cNvPr id="6" name="Text 3"/>
          <p:cNvSpPr/>
          <p:nvPr/>
        </p:nvSpPr>
        <p:spPr>
          <a:xfrm>
            <a:off x="822960" y="2286000"/>
            <a:ext cx="9601200" cy="457200"/>
          </a:xfrm>
          <a:prstGeom prst="rect">
            <a:avLst/>
          </a:prstGeom>
          <a:noFill/>
          <a:ln/>
        </p:spPr>
        <p:txBody>
          <a:bodyPr wrap="square" rtlCol="0" anchor="ctr"/>
          <a:lstStyle/>
          <a:p>
            <a:pPr marL="0" indent="0">
              <a:buNone/>
            </a:pPr>
            <a:r>
              <a:rPr lang="en-US" sz="1600" b="1" kern="0" spc="300" dirty="0">
                <a:solidFill>
                  <a:srgbClr val="CADCFC"/>
                </a:solidFill>
                <a:latin typeface="Calibri" pitchFamily="34" charset="0"/>
                <a:ea typeface="Calibri" pitchFamily="34" charset="-122"/>
                <a:cs typeface="Calibri" pitchFamily="34" charset="-120"/>
              </a:rPr>
              <a:t>ANALYSIS OF RAINFALL VARIABILITY</a:t>
            </a:r>
            <a:endParaRPr lang="en-US" sz="1600" dirty="0"/>
          </a:p>
        </p:txBody>
      </p:sp>
      <p:sp>
        <p:nvSpPr>
          <p:cNvPr id="7" name="Text 4"/>
          <p:cNvSpPr/>
          <p:nvPr/>
        </p:nvSpPr>
        <p:spPr>
          <a:xfrm>
            <a:off x="822960" y="2743200"/>
            <a:ext cx="100584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Rainfall Variability in Bangladesh</a:t>
            </a:r>
            <a:endParaRPr lang="en-US" sz="4000" dirty="0"/>
          </a:p>
        </p:txBody>
      </p:sp>
      <p:sp>
        <p:nvSpPr>
          <p:cNvPr id="8" name="Text 5"/>
          <p:cNvSpPr/>
          <p:nvPr/>
        </p:nvSpPr>
        <p:spPr>
          <a:xfrm>
            <a:off x="822960" y="3703320"/>
            <a:ext cx="960120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47-Year Historical Study of Rainfall Patterns Across Nine Weather Stations (1970–2016)</a:t>
            </a:r>
            <a:endParaRPr lang="en-US" sz="1600" dirty="0"/>
          </a:p>
        </p:txBody>
      </p:sp>
      <p:sp>
        <p:nvSpPr>
          <p:cNvPr id="9" name="Text 6"/>
          <p:cNvSpPr/>
          <p:nvPr/>
        </p:nvSpPr>
        <p:spPr>
          <a:xfrm>
            <a:off x="822960" y="5943600"/>
            <a:ext cx="73152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Data Science Immersive Program  |  General Assembly Bahrain</a:t>
            </a:r>
            <a:endParaRPr lang="en-US" sz="1200" dirty="0"/>
          </a:p>
        </p:txBody>
      </p:sp>
      <p:sp>
        <p:nvSpPr>
          <p:cNvPr id="11" name="TextBox 10">
            <a:extLst>
              <a:ext uri="{FF2B5EF4-FFF2-40B4-BE49-F238E27FC236}">
                <a16:creationId xmlns:a16="http://schemas.microsoft.com/office/drawing/2014/main" id="{38EE7DB3-1EA7-4CB4-8A76-B19B7943E5B6}"/>
              </a:ext>
            </a:extLst>
          </p:cNvPr>
          <p:cNvSpPr txBox="1"/>
          <p:nvPr/>
        </p:nvSpPr>
        <p:spPr>
          <a:xfrm>
            <a:off x="822960" y="5537649"/>
            <a:ext cx="7589520" cy="369332"/>
          </a:xfrm>
          <a:prstGeom prst="rect">
            <a:avLst/>
          </a:prstGeom>
          <a:noFill/>
        </p:spPr>
        <p:txBody>
          <a:bodyPr wrap="square">
            <a:spAutoFit/>
          </a:bodyPr>
          <a:lstStyle/>
          <a:p>
            <a:r>
              <a:rPr lang="en-US" dirty="0">
                <a:solidFill>
                  <a:schemeClr val="bg1"/>
                </a:solidFill>
              </a:rPr>
              <a:t>Arwa Alzakri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822960" y="1554480"/>
            <a:ext cx="685800" cy="685800"/>
          </a:xfrm>
          <a:prstGeom prst="ellipse">
            <a:avLst/>
          </a:prstGeom>
          <a:solidFill>
            <a:srgbClr val="065A82"/>
          </a:solidFill>
          <a:ln/>
        </p:spPr>
        <p:txBody>
          <a:bodyPr/>
          <a:lstStyle/>
          <a:p>
            <a:endParaRPr lang="en-US"/>
          </a:p>
        </p:txBody>
      </p:sp>
      <p:pic>
        <p:nvPicPr>
          <p:cNvPr id="4" name="Image 0" descr="/home/claude/pptx_build/icons/map_white.png"/>
          <p:cNvPicPr>
            <a:picLocks noChangeAspect="1"/>
          </p:cNvPicPr>
          <p:nvPr/>
        </p:nvPicPr>
        <p:blipFill>
          <a:blip r:embed="rId3"/>
          <a:stretch>
            <a:fillRect/>
          </a:stretch>
        </p:blipFill>
        <p:spPr>
          <a:xfrm>
            <a:off x="973836" y="1705356"/>
            <a:ext cx="384048" cy="384048"/>
          </a:xfrm>
          <a:prstGeom prst="rect">
            <a:avLst/>
          </a:prstGeom>
        </p:spPr>
      </p:pic>
      <p:sp>
        <p:nvSpPr>
          <p:cNvPr id="5" name="Text 2"/>
          <p:cNvSpPr/>
          <p:nvPr/>
        </p:nvSpPr>
        <p:spPr>
          <a:xfrm>
            <a:off x="1783080" y="1508760"/>
            <a:ext cx="8961120" cy="411480"/>
          </a:xfrm>
          <a:prstGeom prst="rect">
            <a:avLst/>
          </a:prstGeom>
          <a:noFill/>
          <a:ln/>
        </p:spPr>
        <p:txBody>
          <a:bodyPr wrap="square" rtlCol="0" anchor="ctr"/>
          <a:lstStyle/>
          <a:p>
            <a:pPr marL="0" indent="0">
              <a:buNone/>
            </a:pPr>
            <a:r>
              <a:rPr lang="en-US" sz="1900" b="1" dirty="0">
                <a:solidFill>
                  <a:srgbClr val="21295C"/>
                </a:solidFill>
                <a:latin typeface="Calibri" pitchFamily="34" charset="0"/>
                <a:ea typeface="Calibri" pitchFamily="34" charset="-122"/>
                <a:cs typeface="Calibri" pitchFamily="34" charset="-120"/>
              </a:rPr>
              <a:t>Dataset Overview</a:t>
            </a:r>
            <a:endParaRPr lang="en-US" sz="1900" dirty="0"/>
          </a:p>
        </p:txBody>
      </p:sp>
      <p:sp>
        <p:nvSpPr>
          <p:cNvPr id="6" name="Text 3"/>
          <p:cNvSpPr/>
          <p:nvPr/>
        </p:nvSpPr>
        <p:spPr>
          <a:xfrm>
            <a:off x="1783080" y="1901952"/>
            <a:ext cx="8961120" cy="36576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Scope, structure, and completeness of the rainfall records</a:t>
            </a:r>
            <a:endParaRPr lang="en-US" sz="1300" dirty="0"/>
          </a:p>
        </p:txBody>
      </p:sp>
      <p:sp>
        <p:nvSpPr>
          <p:cNvPr id="7" name="Shape 4"/>
          <p:cNvSpPr/>
          <p:nvPr/>
        </p:nvSpPr>
        <p:spPr>
          <a:xfrm>
            <a:off x="822960" y="2697480"/>
            <a:ext cx="685800" cy="685800"/>
          </a:xfrm>
          <a:prstGeom prst="ellipse">
            <a:avLst/>
          </a:prstGeom>
          <a:solidFill>
            <a:srgbClr val="1C7293"/>
          </a:solidFill>
          <a:ln/>
        </p:spPr>
        <p:txBody>
          <a:bodyPr/>
          <a:lstStyle/>
          <a:p>
            <a:endParaRPr lang="en-US"/>
          </a:p>
        </p:txBody>
      </p:sp>
      <p:pic>
        <p:nvPicPr>
          <p:cNvPr id="8" name="Image 1" descr="/home/claude/pptx_build/icons/clipboard_white.png"/>
          <p:cNvPicPr>
            <a:picLocks noChangeAspect="1"/>
          </p:cNvPicPr>
          <p:nvPr/>
        </p:nvPicPr>
        <p:blipFill>
          <a:blip r:embed="rId4"/>
          <a:stretch>
            <a:fillRect/>
          </a:stretch>
        </p:blipFill>
        <p:spPr>
          <a:xfrm>
            <a:off x="973836" y="2848356"/>
            <a:ext cx="384048" cy="384048"/>
          </a:xfrm>
          <a:prstGeom prst="rect">
            <a:avLst/>
          </a:prstGeom>
        </p:spPr>
      </p:pic>
      <p:sp>
        <p:nvSpPr>
          <p:cNvPr id="9" name="Text 5"/>
          <p:cNvSpPr/>
          <p:nvPr/>
        </p:nvSpPr>
        <p:spPr>
          <a:xfrm>
            <a:off x="1783080" y="2651760"/>
            <a:ext cx="8961120" cy="411480"/>
          </a:xfrm>
          <a:prstGeom prst="rect">
            <a:avLst/>
          </a:prstGeom>
          <a:noFill/>
          <a:ln/>
        </p:spPr>
        <p:txBody>
          <a:bodyPr wrap="square" rtlCol="0" anchor="ctr"/>
          <a:lstStyle/>
          <a:p>
            <a:pPr marL="0" indent="0">
              <a:buNone/>
            </a:pPr>
            <a:r>
              <a:rPr lang="en-US" sz="1900" b="1" dirty="0">
                <a:solidFill>
                  <a:srgbClr val="21295C"/>
                </a:solidFill>
                <a:latin typeface="Calibri" pitchFamily="34" charset="0"/>
                <a:ea typeface="Calibri" pitchFamily="34" charset="-122"/>
                <a:cs typeface="Calibri" pitchFamily="34" charset="-120"/>
              </a:rPr>
              <a:t>Problem Statement &amp; Objectives</a:t>
            </a:r>
            <a:endParaRPr lang="en-US" sz="1900" dirty="0"/>
          </a:p>
        </p:txBody>
      </p:sp>
      <p:sp>
        <p:nvSpPr>
          <p:cNvPr id="10" name="Text 6"/>
          <p:cNvSpPr/>
          <p:nvPr/>
        </p:nvSpPr>
        <p:spPr>
          <a:xfrm>
            <a:off x="1783080" y="3044952"/>
            <a:ext cx="8961120" cy="36576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Why rainfall variability matters, and what we set out to answer</a:t>
            </a:r>
            <a:endParaRPr lang="en-US" sz="1300" dirty="0"/>
          </a:p>
        </p:txBody>
      </p:sp>
      <p:sp>
        <p:nvSpPr>
          <p:cNvPr id="11" name="Shape 7"/>
          <p:cNvSpPr/>
          <p:nvPr/>
        </p:nvSpPr>
        <p:spPr>
          <a:xfrm>
            <a:off x="822960" y="3840480"/>
            <a:ext cx="685800" cy="685800"/>
          </a:xfrm>
          <a:prstGeom prst="ellipse">
            <a:avLst/>
          </a:prstGeom>
          <a:solidFill>
            <a:srgbClr val="065A82"/>
          </a:solidFill>
          <a:ln/>
        </p:spPr>
        <p:txBody>
          <a:bodyPr/>
          <a:lstStyle/>
          <a:p>
            <a:endParaRPr lang="en-US"/>
          </a:p>
        </p:txBody>
      </p:sp>
      <p:pic>
        <p:nvPicPr>
          <p:cNvPr id="12" name="Image 2" descr="/home/claude/pptx_build/icons/chartbar_white.png"/>
          <p:cNvPicPr>
            <a:picLocks noChangeAspect="1"/>
          </p:cNvPicPr>
          <p:nvPr/>
        </p:nvPicPr>
        <p:blipFill>
          <a:blip r:embed="rId5"/>
          <a:stretch>
            <a:fillRect/>
          </a:stretch>
        </p:blipFill>
        <p:spPr>
          <a:xfrm>
            <a:off x="973836" y="3991356"/>
            <a:ext cx="384048" cy="384048"/>
          </a:xfrm>
          <a:prstGeom prst="rect">
            <a:avLst/>
          </a:prstGeom>
        </p:spPr>
      </p:pic>
      <p:sp>
        <p:nvSpPr>
          <p:cNvPr id="13" name="Text 8"/>
          <p:cNvSpPr/>
          <p:nvPr/>
        </p:nvSpPr>
        <p:spPr>
          <a:xfrm>
            <a:off x="1783080" y="3794760"/>
            <a:ext cx="8961120" cy="411480"/>
          </a:xfrm>
          <a:prstGeom prst="rect">
            <a:avLst/>
          </a:prstGeom>
          <a:noFill/>
          <a:ln/>
        </p:spPr>
        <p:txBody>
          <a:bodyPr wrap="square" rtlCol="0" anchor="ctr"/>
          <a:lstStyle/>
          <a:p>
            <a:pPr marL="0" indent="0">
              <a:buNone/>
            </a:pPr>
            <a:r>
              <a:rPr lang="en-US" sz="1900" b="1" dirty="0">
                <a:solidFill>
                  <a:srgbClr val="21295C"/>
                </a:solidFill>
                <a:latin typeface="Calibri" pitchFamily="34" charset="0"/>
                <a:ea typeface="Calibri" pitchFamily="34" charset="-122"/>
                <a:cs typeface="Calibri" pitchFamily="34" charset="-120"/>
              </a:rPr>
              <a:t>Analysis &amp; Findings</a:t>
            </a:r>
            <a:endParaRPr lang="en-US" sz="1900" dirty="0"/>
          </a:p>
        </p:txBody>
      </p:sp>
      <p:sp>
        <p:nvSpPr>
          <p:cNvPr id="14" name="Text 9"/>
          <p:cNvSpPr/>
          <p:nvPr/>
        </p:nvSpPr>
        <p:spPr>
          <a:xfrm>
            <a:off x="1783080" y="4187952"/>
            <a:ext cx="8961120" cy="36576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Five data-driven objectives across stations, months, and decades</a:t>
            </a:r>
            <a:endParaRPr lang="en-US" sz="1300" dirty="0"/>
          </a:p>
        </p:txBody>
      </p:sp>
      <p:sp>
        <p:nvSpPr>
          <p:cNvPr id="15" name="Shape 10"/>
          <p:cNvSpPr/>
          <p:nvPr/>
        </p:nvSpPr>
        <p:spPr>
          <a:xfrm>
            <a:off x="822960" y="4983480"/>
            <a:ext cx="685800" cy="685800"/>
          </a:xfrm>
          <a:prstGeom prst="ellipse">
            <a:avLst/>
          </a:prstGeom>
          <a:solidFill>
            <a:srgbClr val="1C7293"/>
          </a:solidFill>
          <a:ln/>
        </p:spPr>
        <p:txBody>
          <a:bodyPr/>
          <a:lstStyle/>
          <a:p>
            <a:endParaRPr lang="en-US"/>
          </a:p>
        </p:txBody>
      </p:sp>
      <p:pic>
        <p:nvPicPr>
          <p:cNvPr id="16" name="Image 3" descr="/home/claude/pptx_build/icons/bulb_white.png"/>
          <p:cNvPicPr>
            <a:picLocks noChangeAspect="1"/>
          </p:cNvPicPr>
          <p:nvPr/>
        </p:nvPicPr>
        <p:blipFill>
          <a:blip r:embed="rId6"/>
          <a:stretch>
            <a:fillRect/>
          </a:stretch>
        </p:blipFill>
        <p:spPr>
          <a:xfrm>
            <a:off x="973836" y="5134356"/>
            <a:ext cx="384048" cy="384048"/>
          </a:xfrm>
          <a:prstGeom prst="rect">
            <a:avLst/>
          </a:prstGeom>
        </p:spPr>
      </p:pic>
      <p:sp>
        <p:nvSpPr>
          <p:cNvPr id="17" name="Text 11"/>
          <p:cNvSpPr/>
          <p:nvPr/>
        </p:nvSpPr>
        <p:spPr>
          <a:xfrm>
            <a:off x="1783080" y="4937760"/>
            <a:ext cx="8961120" cy="411480"/>
          </a:xfrm>
          <a:prstGeom prst="rect">
            <a:avLst/>
          </a:prstGeom>
          <a:noFill/>
          <a:ln/>
        </p:spPr>
        <p:txBody>
          <a:bodyPr wrap="square" rtlCol="0" anchor="ctr"/>
          <a:lstStyle/>
          <a:p>
            <a:pPr marL="0" indent="0">
              <a:buNone/>
            </a:pPr>
            <a:r>
              <a:rPr lang="en-US" sz="1900" b="1" dirty="0">
                <a:solidFill>
                  <a:srgbClr val="21295C"/>
                </a:solidFill>
                <a:latin typeface="Calibri" pitchFamily="34" charset="0"/>
                <a:ea typeface="Calibri" pitchFamily="34" charset="-122"/>
                <a:cs typeface="Calibri" pitchFamily="34" charset="-120"/>
              </a:rPr>
              <a:t>Summary &amp; Recommendations</a:t>
            </a:r>
            <a:endParaRPr lang="en-US" sz="1900" dirty="0"/>
          </a:p>
        </p:txBody>
      </p:sp>
      <p:sp>
        <p:nvSpPr>
          <p:cNvPr id="18" name="Text 12"/>
          <p:cNvSpPr/>
          <p:nvPr/>
        </p:nvSpPr>
        <p:spPr>
          <a:xfrm>
            <a:off x="1783080" y="5330952"/>
            <a:ext cx="8961120" cy="36576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Key insights and practical next steps</a:t>
            </a:r>
            <a:endParaRPr lang="en-US" sz="1300" dirty="0"/>
          </a:p>
        </p:txBody>
      </p:sp>
      <p:sp>
        <p:nvSpPr>
          <p:cNvPr id="19" name="Text 1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20"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640080" y="1096772"/>
            <a:ext cx="9144000" cy="365760"/>
          </a:xfrm>
          <a:prstGeom prst="rect">
            <a:avLst/>
          </a:prstGeom>
          <a:noFill/>
          <a:ln/>
        </p:spPr>
        <p:txBody>
          <a:bodyPr wrap="square" rtlCol="0" anchor="ctr"/>
          <a:lstStyle/>
          <a:p>
            <a:pPr marL="0" indent="0">
              <a:buNone/>
            </a:pPr>
            <a:r>
              <a:rPr lang="en-US" dirty="0">
                <a:solidFill>
                  <a:srgbClr val="CADCFC"/>
                </a:solidFill>
                <a:latin typeface="Calibri" pitchFamily="34" charset="0"/>
                <a:ea typeface="Calibri" pitchFamily="34" charset="-122"/>
                <a:cs typeface="Calibri" pitchFamily="34" charset="-120"/>
              </a:rPr>
              <a:t>Daily rainfall records collected by the Bangladesh Meteorological Department</a:t>
            </a:r>
            <a:endParaRPr lang="en-US" dirty="0"/>
          </a:p>
        </p:txBody>
      </p:sp>
      <p:sp>
        <p:nvSpPr>
          <p:cNvPr id="4" name="Shape 2"/>
          <p:cNvSpPr/>
          <p:nvPr/>
        </p:nvSpPr>
        <p:spPr>
          <a:xfrm>
            <a:off x="480060" y="1955800"/>
            <a:ext cx="2651760" cy="2468880"/>
          </a:xfrm>
          <a:prstGeom prst="roundRect">
            <a:avLst>
              <a:gd name="adj" fmla="val 4444"/>
            </a:avLst>
          </a:prstGeom>
          <a:solidFill>
            <a:srgbClr val="065A82">
              <a:alpha val="70000"/>
            </a:srgbClr>
          </a:solidFill>
          <a:ln w="12700">
            <a:solidFill>
              <a:srgbClr val="1C7293"/>
            </a:solidFill>
            <a:prstDash val="solid"/>
          </a:ln>
        </p:spPr>
        <p:txBody>
          <a:bodyPr/>
          <a:lstStyle/>
          <a:p>
            <a:endParaRPr lang="en-US"/>
          </a:p>
        </p:txBody>
      </p:sp>
      <p:sp>
        <p:nvSpPr>
          <p:cNvPr id="5" name="Shape 3"/>
          <p:cNvSpPr/>
          <p:nvPr/>
        </p:nvSpPr>
        <p:spPr>
          <a:xfrm>
            <a:off x="1417319" y="2286000"/>
            <a:ext cx="731520" cy="731520"/>
          </a:xfrm>
          <a:prstGeom prst="ellipse">
            <a:avLst/>
          </a:prstGeom>
          <a:solidFill>
            <a:srgbClr val="1C7293"/>
          </a:solidFill>
          <a:ln/>
        </p:spPr>
        <p:txBody>
          <a:bodyPr/>
          <a:lstStyle/>
          <a:p>
            <a:endParaRPr lang="en-US"/>
          </a:p>
        </p:txBody>
      </p:sp>
      <p:pic>
        <p:nvPicPr>
          <p:cNvPr id="6" name="Image 0" descr="/home/claude/pptx_build/icons/map_white.png"/>
          <p:cNvPicPr>
            <a:picLocks noChangeAspect="1"/>
          </p:cNvPicPr>
          <p:nvPr/>
        </p:nvPicPr>
        <p:blipFill>
          <a:blip r:embed="rId3"/>
          <a:stretch>
            <a:fillRect/>
          </a:stretch>
        </p:blipFill>
        <p:spPr>
          <a:xfrm>
            <a:off x="1568653" y="2433320"/>
            <a:ext cx="409651" cy="409651"/>
          </a:xfrm>
          <a:prstGeom prst="rect">
            <a:avLst/>
          </a:prstGeom>
        </p:spPr>
      </p:pic>
      <p:sp>
        <p:nvSpPr>
          <p:cNvPr id="7" name="Text 4"/>
          <p:cNvSpPr/>
          <p:nvPr/>
        </p:nvSpPr>
        <p:spPr>
          <a:xfrm>
            <a:off x="571500" y="3102051"/>
            <a:ext cx="246888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35</a:t>
            </a:r>
            <a:endParaRPr lang="en-US" sz="3000" dirty="0"/>
          </a:p>
        </p:txBody>
      </p:sp>
      <p:sp>
        <p:nvSpPr>
          <p:cNvPr id="8" name="Text 5"/>
          <p:cNvSpPr/>
          <p:nvPr/>
        </p:nvSpPr>
        <p:spPr>
          <a:xfrm>
            <a:off x="617220" y="3678631"/>
            <a:ext cx="2377440" cy="54864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Weather Stations</a:t>
            </a:r>
            <a:endParaRPr lang="en-US" sz="1300" dirty="0"/>
          </a:p>
        </p:txBody>
      </p:sp>
      <p:sp>
        <p:nvSpPr>
          <p:cNvPr id="9" name="Shape 6"/>
          <p:cNvSpPr/>
          <p:nvPr/>
        </p:nvSpPr>
        <p:spPr>
          <a:xfrm>
            <a:off x="3406140" y="1965960"/>
            <a:ext cx="2651760" cy="2468880"/>
          </a:xfrm>
          <a:prstGeom prst="roundRect">
            <a:avLst>
              <a:gd name="adj" fmla="val 4444"/>
            </a:avLst>
          </a:prstGeom>
          <a:solidFill>
            <a:srgbClr val="065A82">
              <a:alpha val="70000"/>
            </a:srgbClr>
          </a:solidFill>
          <a:ln w="12700">
            <a:solidFill>
              <a:srgbClr val="1C7293"/>
            </a:solidFill>
            <a:prstDash val="solid"/>
          </a:ln>
        </p:spPr>
        <p:txBody>
          <a:bodyPr/>
          <a:lstStyle/>
          <a:p>
            <a:endParaRPr lang="en-US"/>
          </a:p>
        </p:txBody>
      </p:sp>
      <p:sp>
        <p:nvSpPr>
          <p:cNvPr id="10" name="Shape 7"/>
          <p:cNvSpPr/>
          <p:nvPr/>
        </p:nvSpPr>
        <p:spPr>
          <a:xfrm>
            <a:off x="4340505" y="2286000"/>
            <a:ext cx="731520" cy="731520"/>
          </a:xfrm>
          <a:prstGeom prst="ellipse">
            <a:avLst/>
          </a:prstGeom>
          <a:solidFill>
            <a:srgbClr val="1C7293"/>
          </a:solidFill>
          <a:ln/>
        </p:spPr>
        <p:txBody>
          <a:bodyPr/>
          <a:lstStyle/>
          <a:p>
            <a:endParaRPr lang="en-US"/>
          </a:p>
        </p:txBody>
      </p:sp>
      <p:pic>
        <p:nvPicPr>
          <p:cNvPr id="11" name="Image 1" descr="/home/claude/pptx_build/icons/calendar_white.png"/>
          <p:cNvPicPr>
            <a:picLocks noChangeAspect="1"/>
          </p:cNvPicPr>
          <p:nvPr/>
        </p:nvPicPr>
        <p:blipFill>
          <a:blip r:embed="rId4"/>
          <a:stretch>
            <a:fillRect/>
          </a:stretch>
        </p:blipFill>
        <p:spPr>
          <a:xfrm>
            <a:off x="4555694" y="2446934"/>
            <a:ext cx="409651" cy="409651"/>
          </a:xfrm>
          <a:prstGeom prst="rect">
            <a:avLst/>
          </a:prstGeom>
        </p:spPr>
      </p:pic>
      <p:sp>
        <p:nvSpPr>
          <p:cNvPr id="12" name="Text 8"/>
          <p:cNvSpPr/>
          <p:nvPr/>
        </p:nvSpPr>
        <p:spPr>
          <a:xfrm>
            <a:off x="3497580" y="3119120"/>
            <a:ext cx="246888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47</a:t>
            </a:r>
            <a:endParaRPr lang="en-US" sz="3000" dirty="0"/>
          </a:p>
        </p:txBody>
      </p:sp>
      <p:sp>
        <p:nvSpPr>
          <p:cNvPr id="13" name="Text 9"/>
          <p:cNvSpPr/>
          <p:nvPr/>
        </p:nvSpPr>
        <p:spPr>
          <a:xfrm>
            <a:off x="3556000" y="3749040"/>
            <a:ext cx="2377440" cy="54864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Years of Records</a:t>
            </a:r>
            <a:endParaRPr lang="en-US" sz="1300" dirty="0"/>
          </a:p>
        </p:txBody>
      </p:sp>
      <p:sp>
        <p:nvSpPr>
          <p:cNvPr id="14" name="Shape 10"/>
          <p:cNvSpPr/>
          <p:nvPr/>
        </p:nvSpPr>
        <p:spPr>
          <a:xfrm>
            <a:off x="6332220" y="1965960"/>
            <a:ext cx="2651760" cy="2468880"/>
          </a:xfrm>
          <a:prstGeom prst="roundRect">
            <a:avLst>
              <a:gd name="adj" fmla="val 4444"/>
            </a:avLst>
          </a:prstGeom>
          <a:solidFill>
            <a:srgbClr val="065A82">
              <a:alpha val="70000"/>
            </a:srgbClr>
          </a:solidFill>
          <a:ln w="12700">
            <a:solidFill>
              <a:srgbClr val="1C7293"/>
            </a:solidFill>
            <a:prstDash val="solid"/>
          </a:ln>
        </p:spPr>
        <p:txBody>
          <a:bodyPr/>
          <a:lstStyle/>
          <a:p>
            <a:endParaRPr lang="en-US"/>
          </a:p>
        </p:txBody>
      </p:sp>
      <p:sp>
        <p:nvSpPr>
          <p:cNvPr id="15" name="Shape 11"/>
          <p:cNvSpPr/>
          <p:nvPr/>
        </p:nvSpPr>
        <p:spPr>
          <a:xfrm>
            <a:off x="7292340" y="2313432"/>
            <a:ext cx="731520" cy="731520"/>
          </a:xfrm>
          <a:prstGeom prst="ellipse">
            <a:avLst/>
          </a:prstGeom>
          <a:solidFill>
            <a:srgbClr val="1C7293"/>
          </a:solidFill>
          <a:ln/>
        </p:spPr>
        <p:txBody>
          <a:bodyPr/>
          <a:lstStyle/>
          <a:p>
            <a:endParaRPr lang="en-US"/>
          </a:p>
        </p:txBody>
      </p:sp>
      <p:pic>
        <p:nvPicPr>
          <p:cNvPr id="16" name="Image 2" descr="/home/claude/pptx_build/icons/chartbar_white.png"/>
          <p:cNvPicPr>
            <a:picLocks noChangeAspect="1"/>
          </p:cNvPicPr>
          <p:nvPr/>
        </p:nvPicPr>
        <p:blipFill>
          <a:blip r:embed="rId5"/>
          <a:stretch>
            <a:fillRect/>
          </a:stretch>
        </p:blipFill>
        <p:spPr>
          <a:xfrm>
            <a:off x="7451294" y="2487168"/>
            <a:ext cx="409651" cy="409651"/>
          </a:xfrm>
          <a:prstGeom prst="rect">
            <a:avLst/>
          </a:prstGeom>
        </p:spPr>
      </p:pic>
      <p:sp>
        <p:nvSpPr>
          <p:cNvPr id="17" name="Text 12"/>
          <p:cNvSpPr/>
          <p:nvPr/>
        </p:nvSpPr>
        <p:spPr>
          <a:xfrm>
            <a:off x="6469380" y="3108960"/>
            <a:ext cx="246888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542,376</a:t>
            </a:r>
            <a:endParaRPr lang="en-US" sz="3000" dirty="0"/>
          </a:p>
        </p:txBody>
      </p:sp>
      <p:sp>
        <p:nvSpPr>
          <p:cNvPr id="18" name="Text 13"/>
          <p:cNvSpPr/>
          <p:nvPr/>
        </p:nvSpPr>
        <p:spPr>
          <a:xfrm>
            <a:off x="6467399" y="3742131"/>
            <a:ext cx="2377440" cy="54864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Daily Observations</a:t>
            </a:r>
            <a:endParaRPr lang="en-US" sz="1300" dirty="0"/>
          </a:p>
        </p:txBody>
      </p:sp>
      <p:sp>
        <p:nvSpPr>
          <p:cNvPr id="19" name="Shape 14"/>
          <p:cNvSpPr/>
          <p:nvPr/>
        </p:nvSpPr>
        <p:spPr>
          <a:xfrm>
            <a:off x="9258300" y="1955800"/>
            <a:ext cx="2651760" cy="2468880"/>
          </a:xfrm>
          <a:prstGeom prst="roundRect">
            <a:avLst>
              <a:gd name="adj" fmla="val 4444"/>
            </a:avLst>
          </a:prstGeom>
          <a:solidFill>
            <a:srgbClr val="065A82">
              <a:alpha val="70000"/>
            </a:srgbClr>
          </a:solidFill>
          <a:ln w="12700">
            <a:solidFill>
              <a:srgbClr val="1C7293"/>
            </a:solidFill>
            <a:prstDash val="solid"/>
          </a:ln>
        </p:spPr>
        <p:txBody>
          <a:bodyPr/>
          <a:lstStyle/>
          <a:p>
            <a:endParaRPr lang="en-US"/>
          </a:p>
        </p:txBody>
      </p:sp>
      <p:sp>
        <p:nvSpPr>
          <p:cNvPr id="20" name="Shape 15"/>
          <p:cNvSpPr/>
          <p:nvPr/>
        </p:nvSpPr>
        <p:spPr>
          <a:xfrm>
            <a:off x="10310774" y="2286000"/>
            <a:ext cx="731520" cy="731520"/>
          </a:xfrm>
          <a:prstGeom prst="ellipse">
            <a:avLst/>
          </a:prstGeom>
          <a:solidFill>
            <a:srgbClr val="1C7293"/>
          </a:solidFill>
          <a:ln/>
        </p:spPr>
        <p:txBody>
          <a:bodyPr/>
          <a:lstStyle/>
          <a:p>
            <a:endParaRPr lang="en-US"/>
          </a:p>
        </p:txBody>
      </p:sp>
      <p:pic>
        <p:nvPicPr>
          <p:cNvPr id="21" name="Image 3" descr="/home/claude/pptx_build/icons/cloudrain_white.png"/>
          <p:cNvPicPr>
            <a:picLocks noChangeAspect="1"/>
          </p:cNvPicPr>
          <p:nvPr/>
        </p:nvPicPr>
        <p:blipFill>
          <a:blip r:embed="rId6"/>
          <a:stretch>
            <a:fillRect/>
          </a:stretch>
        </p:blipFill>
        <p:spPr>
          <a:xfrm>
            <a:off x="10471708" y="2423160"/>
            <a:ext cx="409651" cy="409651"/>
          </a:xfrm>
          <a:prstGeom prst="rect">
            <a:avLst/>
          </a:prstGeom>
        </p:spPr>
      </p:pic>
      <p:sp>
        <p:nvSpPr>
          <p:cNvPr id="22" name="Text 16"/>
          <p:cNvSpPr/>
          <p:nvPr/>
        </p:nvSpPr>
        <p:spPr>
          <a:xfrm>
            <a:off x="9372600" y="3108960"/>
            <a:ext cx="246888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1970–2016</a:t>
            </a:r>
            <a:endParaRPr lang="en-US" sz="3000" dirty="0"/>
          </a:p>
        </p:txBody>
      </p:sp>
      <p:sp>
        <p:nvSpPr>
          <p:cNvPr id="23" name="Text 17"/>
          <p:cNvSpPr/>
          <p:nvPr/>
        </p:nvSpPr>
        <p:spPr>
          <a:xfrm>
            <a:off x="9511792" y="3738880"/>
            <a:ext cx="2377440" cy="54864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Study Period</a:t>
            </a:r>
            <a:endParaRPr lang="en-US" sz="1300" dirty="0"/>
          </a:p>
        </p:txBody>
      </p:sp>
      <p:sp>
        <p:nvSpPr>
          <p:cNvPr id="24" name="Text 18"/>
          <p:cNvSpPr/>
          <p:nvPr/>
        </p:nvSpPr>
        <p:spPr>
          <a:xfrm>
            <a:off x="640080" y="4846320"/>
            <a:ext cx="1051560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Each record includes: Station Index, Station Name, Year, Month, Day, and Rainfall (mm)</a:t>
            </a:r>
            <a:endParaRPr lang="en-US" sz="1300" dirty="0"/>
          </a:p>
        </p:txBody>
      </p:sp>
      <p:sp>
        <p:nvSpPr>
          <p:cNvPr id="25" name="Text 19"/>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Rainfall Variability in Bangladesh (1970–2016)</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Data Completeness by Station</a:t>
            </a:r>
            <a:endParaRPr lang="en-US" sz="2600" dirty="0"/>
          </a:p>
        </p:txBody>
      </p:sp>
      <p:sp>
        <p:nvSpPr>
          <p:cNvPr id="3" name="Text 1"/>
          <p:cNvSpPr/>
          <p:nvPr/>
        </p:nvSpPr>
        <p:spPr>
          <a:xfrm>
            <a:off x="640080" y="960120"/>
            <a:ext cx="10789920" cy="45720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Only 9 of the 35 stations have a complete 47-year record (1970–2016) </a:t>
            </a:r>
          </a:p>
          <a:p>
            <a:pPr marL="0" indent="0">
              <a:buNone/>
            </a:pPr>
            <a:r>
              <a:rPr lang="en-US" sz="1300" dirty="0">
                <a:solidFill>
                  <a:srgbClr val="6B7A8F"/>
                </a:solidFill>
                <a:latin typeface="Calibri" pitchFamily="34" charset="0"/>
                <a:ea typeface="Calibri" pitchFamily="34" charset="-122"/>
                <a:cs typeface="Calibri" pitchFamily="34" charset="-120"/>
              </a:rPr>
              <a:t>The analysis focuses on these nine for consistency.</a:t>
            </a:r>
            <a:endParaRPr lang="en-US" sz="1300" dirty="0"/>
          </a:p>
        </p:txBody>
      </p:sp>
      <p:graphicFrame>
        <p:nvGraphicFramePr>
          <p:cNvPr id="4" name="Chart 0"/>
          <p:cNvGraphicFramePr/>
          <p:nvPr>
            <p:extLst>
              <p:ext uri="{D42A27DB-BD31-4B8C-83A1-F6EECF244321}">
                <p14:modId xmlns:p14="http://schemas.microsoft.com/office/powerpoint/2010/main" val="2649441445"/>
              </p:ext>
            </p:extLst>
          </p:nvPr>
        </p:nvGraphicFramePr>
        <p:xfrm>
          <a:off x="460248" y="1417320"/>
          <a:ext cx="11064240" cy="5074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6583680"/>
            <a:ext cx="9144000" cy="274320"/>
          </a:xfrm>
          <a:prstGeom prst="rect">
            <a:avLst/>
          </a:prstGeom>
          <a:noFill/>
          <a:ln/>
        </p:spPr>
        <p:txBody>
          <a:bodyPr wrap="square" rtlCol="0" anchor="ctr"/>
          <a:lstStyle/>
          <a:p>
            <a:pPr marL="0" indent="0">
              <a:buNone/>
            </a:pPr>
            <a:r>
              <a:rPr lang="en-US" sz="1050" i="1" dirty="0">
                <a:solidFill>
                  <a:srgbClr val="F2704F"/>
                </a:solidFill>
                <a:latin typeface="Calibri" pitchFamily="34" charset="0"/>
                <a:ea typeface="Calibri" pitchFamily="34" charset="-122"/>
                <a:cs typeface="Calibri" pitchFamily="34" charset="-120"/>
              </a:rPr>
              <a:t>Highlighted in orange: the nine stations with the full 47-year record used in this analysis</a:t>
            </a:r>
            <a:endParaRPr lang="en-US" sz="1050" dirty="0"/>
          </a:p>
        </p:txBody>
      </p:sp>
      <p:sp>
        <p:nvSpPr>
          <p:cNvPr id="6" name="Text 3"/>
          <p:cNvSpPr/>
          <p:nvPr/>
        </p:nvSpPr>
        <p:spPr>
          <a:xfrm>
            <a:off x="699516" y="6400800"/>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BC0D5D-F2E1-B5D6-B11A-A473DBC6980E}"/>
              </a:ext>
            </a:extLst>
          </p:cNvPr>
          <p:cNvSpPr txBox="1"/>
          <p:nvPr/>
        </p:nvSpPr>
        <p:spPr>
          <a:xfrm>
            <a:off x="612905" y="378838"/>
            <a:ext cx="2787842" cy="6100324"/>
          </a:xfrm>
          <a:prstGeom prst="rect">
            <a:avLst/>
          </a:prstGeom>
          <a:solidFill>
            <a:schemeClr val="accent5">
              <a:lumMod val="20000"/>
              <a:lumOff val="80000"/>
            </a:schemeClr>
          </a:solidFill>
        </p:spPr>
        <p:txBody>
          <a:bodyPr wrap="square">
            <a:spAutoFit/>
          </a:bodyPr>
          <a:lstStyle/>
          <a:p>
            <a:pPr>
              <a:lnSpc>
                <a:spcPct val="200000"/>
              </a:lnSpc>
            </a:pPr>
            <a:r>
              <a:rPr lang="en-US" dirty="0">
                <a:latin typeface="Cambria" panose="02040503050406030204" pitchFamily="18" charset="0"/>
                <a:ea typeface="Cambria" panose="02040503050406030204" pitchFamily="18" charset="0"/>
              </a:rPr>
              <a:t>1. Tangail (1983)</a:t>
            </a:r>
          </a:p>
          <a:p>
            <a:pPr>
              <a:lnSpc>
                <a:spcPct val="200000"/>
              </a:lnSpc>
            </a:pPr>
            <a:r>
              <a:rPr lang="en-US" dirty="0">
                <a:latin typeface="Cambria" panose="02040503050406030204" pitchFamily="18" charset="0"/>
                <a:ea typeface="Cambria" panose="02040503050406030204" pitchFamily="18" charset="0"/>
              </a:rPr>
              <a:t> 2. Madaripur (1976)</a:t>
            </a:r>
          </a:p>
          <a:p>
            <a:pPr>
              <a:lnSpc>
                <a:spcPct val="200000"/>
              </a:lnSpc>
            </a:pPr>
            <a:r>
              <a:rPr lang="en-US" dirty="0">
                <a:latin typeface="Cambria" panose="02040503050406030204" pitchFamily="18" charset="0"/>
                <a:ea typeface="Cambria" panose="02040503050406030204" pitchFamily="18" charset="0"/>
              </a:rPr>
              <a:t> 3. </a:t>
            </a:r>
            <a:r>
              <a:rPr lang="en-US" dirty="0" err="1">
                <a:latin typeface="Cambria" panose="02040503050406030204" pitchFamily="18" charset="0"/>
                <a:ea typeface="Cambria" panose="02040503050406030204" pitchFamily="18" charset="0"/>
              </a:rPr>
              <a:t>Syedpur</a:t>
            </a:r>
            <a:r>
              <a:rPr lang="en-US" dirty="0">
                <a:latin typeface="Cambria" panose="02040503050406030204" pitchFamily="18" charset="0"/>
                <a:ea typeface="Cambria" panose="02040503050406030204" pitchFamily="18" charset="0"/>
              </a:rPr>
              <a:t> (1972)</a:t>
            </a:r>
          </a:p>
          <a:p>
            <a:pPr>
              <a:lnSpc>
                <a:spcPct val="200000"/>
              </a:lnSpc>
            </a:pPr>
            <a:r>
              <a:rPr lang="en-US" dirty="0">
                <a:latin typeface="Cambria" panose="02040503050406030204" pitchFamily="18" charset="0"/>
                <a:ea typeface="Cambria" panose="02040503050406030204" pitchFamily="18" charset="0"/>
              </a:rPr>
              <a:t> 4. </a:t>
            </a:r>
            <a:r>
              <a:rPr lang="en-US" dirty="0" err="1">
                <a:latin typeface="Cambria" panose="02040503050406030204" pitchFamily="18" charset="0"/>
                <a:ea typeface="Cambria" panose="02040503050406030204" pitchFamily="18" charset="0"/>
              </a:rPr>
              <a:t>Chuadanga</a:t>
            </a:r>
            <a:r>
              <a:rPr lang="en-US" dirty="0">
                <a:latin typeface="Cambria" panose="02040503050406030204" pitchFamily="18" charset="0"/>
                <a:ea typeface="Cambria" panose="02040503050406030204" pitchFamily="18" charset="0"/>
              </a:rPr>
              <a:t> (1974)</a:t>
            </a:r>
          </a:p>
          <a:p>
            <a:pPr>
              <a:lnSpc>
                <a:spcPct val="200000"/>
              </a:lnSpc>
            </a:pPr>
            <a:r>
              <a:rPr lang="en-US" dirty="0">
                <a:latin typeface="Cambria" panose="02040503050406030204" pitchFamily="18" charset="0"/>
                <a:ea typeface="Cambria" panose="02040503050406030204" pitchFamily="18" charset="0"/>
              </a:rPr>
              <a:t> 5. Mongla (1977)</a:t>
            </a:r>
          </a:p>
          <a:p>
            <a:pPr>
              <a:lnSpc>
                <a:spcPct val="200000"/>
              </a:lnSpc>
            </a:pPr>
            <a:r>
              <a:rPr lang="en-US" dirty="0">
                <a:latin typeface="Cambria" panose="02040503050406030204" pitchFamily="18" charset="0"/>
                <a:ea typeface="Cambria" panose="02040503050406030204" pitchFamily="18" charset="0"/>
              </a:rPr>
              <a:t> 6. </a:t>
            </a:r>
            <a:r>
              <a:rPr lang="en-US" dirty="0" err="1">
                <a:latin typeface="Cambria" panose="02040503050406030204" pitchFamily="18" charset="0"/>
                <a:ea typeface="Cambria" panose="02040503050406030204" pitchFamily="18" charset="0"/>
              </a:rPr>
              <a:t>Khepupara</a:t>
            </a:r>
            <a:r>
              <a:rPr lang="en-US" dirty="0">
                <a:latin typeface="Cambria" panose="02040503050406030204" pitchFamily="18" charset="0"/>
                <a:ea typeface="Cambria" panose="02040503050406030204" pitchFamily="18" charset="0"/>
              </a:rPr>
              <a:t> (1975)</a:t>
            </a:r>
          </a:p>
          <a:p>
            <a:pPr>
              <a:lnSpc>
                <a:spcPct val="200000"/>
              </a:lnSpc>
            </a:pPr>
            <a:r>
              <a:rPr lang="en-US" dirty="0">
                <a:latin typeface="Cambria" panose="02040503050406030204" pitchFamily="18" charset="0"/>
                <a:ea typeface="Cambria" panose="02040503050406030204" pitchFamily="18" charset="0"/>
              </a:rPr>
              <a:t> 7. Patuakhali (1975)</a:t>
            </a:r>
          </a:p>
          <a:p>
            <a:pPr>
              <a:lnSpc>
                <a:spcPct val="200000"/>
              </a:lnSpc>
            </a:pPr>
            <a:r>
              <a:rPr lang="en-US" dirty="0">
                <a:latin typeface="Cambria" panose="02040503050406030204" pitchFamily="18" charset="0"/>
                <a:ea typeface="Cambria" panose="02040503050406030204" pitchFamily="18" charset="0"/>
              </a:rPr>
              <a:t> 8. Teknaf (1977)</a:t>
            </a:r>
          </a:p>
          <a:p>
            <a:pPr>
              <a:lnSpc>
                <a:spcPct val="200000"/>
              </a:lnSpc>
            </a:pPr>
            <a:r>
              <a:rPr lang="en-US" dirty="0">
                <a:latin typeface="Cambria" panose="02040503050406030204" pitchFamily="18" charset="0"/>
                <a:ea typeface="Cambria" panose="02040503050406030204" pitchFamily="18" charset="0"/>
              </a:rPr>
              <a:t> 9. Feni (1973)</a:t>
            </a:r>
          </a:p>
          <a:p>
            <a:pPr>
              <a:lnSpc>
                <a:spcPct val="200000"/>
              </a:lnSpc>
            </a:pPr>
            <a:r>
              <a:rPr lang="en-US" dirty="0">
                <a:latin typeface="Cambria" panose="02040503050406030204" pitchFamily="18" charset="0"/>
                <a:ea typeface="Cambria" panose="02040503050406030204" pitchFamily="18" charset="0"/>
              </a:rPr>
              <a:t> 10. </a:t>
            </a:r>
            <a:r>
              <a:rPr lang="en-US" dirty="0" err="1">
                <a:latin typeface="Cambria" panose="02040503050406030204" pitchFamily="18" charset="0"/>
                <a:ea typeface="Cambria" panose="02040503050406030204" pitchFamily="18" charset="0"/>
              </a:rPr>
              <a:t>Kutubdia</a:t>
            </a:r>
            <a:r>
              <a:rPr lang="en-US" dirty="0">
                <a:latin typeface="Cambria" panose="02040503050406030204" pitchFamily="18" charset="0"/>
                <a:ea typeface="Cambria" panose="02040503050406030204" pitchFamily="18" charset="0"/>
              </a:rPr>
              <a:t> (1977)</a:t>
            </a:r>
          </a:p>
          <a:p>
            <a:pPr>
              <a:lnSpc>
                <a:spcPct val="200000"/>
              </a:lnSpc>
            </a:pPr>
            <a:r>
              <a:rPr lang="en-US" dirty="0">
                <a:latin typeface="Cambria" panose="02040503050406030204" pitchFamily="18" charset="0"/>
                <a:ea typeface="Cambria" panose="02040503050406030204" pitchFamily="18" charset="0"/>
              </a:rPr>
              <a:t> 11. </a:t>
            </a:r>
            <a:r>
              <a:rPr lang="en-US" dirty="0" err="1">
                <a:latin typeface="Cambria" panose="02040503050406030204" pitchFamily="18" charset="0"/>
                <a:ea typeface="Cambria" panose="02040503050406030204" pitchFamily="18" charset="0"/>
              </a:rPr>
              <a:t>Sitakunda</a:t>
            </a:r>
            <a:r>
              <a:rPr lang="en-US" dirty="0">
                <a:latin typeface="Cambria" panose="02040503050406030204" pitchFamily="18" charset="0"/>
                <a:ea typeface="Cambria" panose="02040503050406030204" pitchFamily="18" charset="0"/>
              </a:rPr>
              <a:t> (1977)</a:t>
            </a:r>
          </a:p>
        </p:txBody>
      </p:sp>
      <p:sp>
        <p:nvSpPr>
          <p:cNvPr id="7" name="TextBox 6">
            <a:extLst>
              <a:ext uri="{FF2B5EF4-FFF2-40B4-BE49-F238E27FC236}">
                <a16:creationId xmlns:a16="http://schemas.microsoft.com/office/drawing/2014/main" id="{8B7B4A58-8BE4-F0A4-E132-82E882AFB38B}"/>
              </a:ext>
            </a:extLst>
          </p:cNvPr>
          <p:cNvSpPr txBox="1"/>
          <p:nvPr/>
        </p:nvSpPr>
        <p:spPr>
          <a:xfrm>
            <a:off x="3674842" y="2094622"/>
            <a:ext cx="8109736" cy="1843453"/>
          </a:xfrm>
          <a:prstGeom prst="rect">
            <a:avLst/>
          </a:prstGeom>
          <a:noFill/>
        </p:spPr>
        <p:txBody>
          <a:bodyPr wrap="square">
            <a:spAutoFit/>
          </a:bodyPr>
          <a:lstStyle/>
          <a:p>
            <a:pPr>
              <a:lnSpc>
                <a:spcPct val="200000"/>
              </a:lnSpc>
              <a:buNone/>
            </a:pPr>
            <a:r>
              <a:rPr lang="en-US" sz="2000" b="1" dirty="0">
                <a:latin typeface="Cambria" panose="02040503050406030204" pitchFamily="18" charset="0"/>
                <a:ea typeface="Cambria" panose="02040503050406030204" pitchFamily="18" charset="0"/>
              </a:rPr>
              <a:t>Why Some Stations Have Incomplete Records: </a:t>
            </a:r>
            <a:endParaRPr lang="en-US" sz="2000" dirty="0">
              <a:latin typeface="Cambria" panose="02040503050406030204" pitchFamily="18" charset="0"/>
              <a:ea typeface="Cambria" panose="02040503050406030204" pitchFamily="18" charset="0"/>
            </a:endParaRPr>
          </a:p>
          <a:p>
            <a:pPr>
              <a:lnSpc>
                <a:spcPct val="200000"/>
              </a:lnSpc>
              <a:buNone/>
            </a:pPr>
            <a:r>
              <a:rPr lang="en-US" sz="2000" dirty="0">
                <a:latin typeface="Cambria" panose="02040503050406030204" pitchFamily="18" charset="0"/>
                <a:ea typeface="Cambria" panose="02040503050406030204" pitchFamily="18" charset="0"/>
              </a:rPr>
              <a:t>For most excluded ,the missing years align closely with their official establishment date meaning no data existed before the station was built. </a:t>
            </a:r>
          </a:p>
        </p:txBody>
      </p:sp>
    </p:spTree>
    <p:extLst>
      <p:ext uri="{BB962C8B-B14F-4D97-AF65-F5344CB8AC3E}">
        <p14:creationId xmlns:p14="http://schemas.microsoft.com/office/powerpoint/2010/main" val="54768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065A82">
              <a:alpha val="40000"/>
            </a:srgbClr>
          </a:solidFill>
          <a:ln/>
        </p:spPr>
        <p:txBody>
          <a:bodyPr/>
          <a:lstStyle/>
          <a:p>
            <a:endParaRPr lang="en-US"/>
          </a:p>
        </p:txBody>
      </p:sp>
      <p:sp>
        <p:nvSpPr>
          <p:cNvPr id="3" name="Text 1"/>
          <p:cNvSpPr/>
          <p:nvPr/>
        </p:nvSpPr>
        <p:spPr>
          <a:xfrm>
            <a:off x="640080" y="502920"/>
            <a:ext cx="96012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Why Rainfall Variability Matters</a:t>
            </a:r>
            <a:endParaRPr lang="en-US" sz="2800" dirty="0"/>
          </a:p>
        </p:txBody>
      </p:sp>
      <p:sp>
        <p:nvSpPr>
          <p:cNvPr id="4" name="Shape 2"/>
          <p:cNvSpPr/>
          <p:nvPr/>
        </p:nvSpPr>
        <p:spPr>
          <a:xfrm>
            <a:off x="731520" y="1554480"/>
            <a:ext cx="822960" cy="822960"/>
          </a:xfrm>
          <a:prstGeom prst="ellipse">
            <a:avLst/>
          </a:prstGeom>
          <a:solidFill>
            <a:srgbClr val="1C7293"/>
          </a:solidFill>
          <a:ln/>
        </p:spPr>
        <p:txBody>
          <a:bodyPr/>
          <a:lstStyle/>
          <a:p>
            <a:endParaRPr lang="en-US"/>
          </a:p>
        </p:txBody>
      </p:sp>
      <p:pic>
        <p:nvPicPr>
          <p:cNvPr id="5" name="Image 0" descr="/home/claude/pptx_build/icons/seedling_white.png"/>
          <p:cNvPicPr>
            <a:picLocks noChangeAspect="1"/>
          </p:cNvPicPr>
          <p:nvPr/>
        </p:nvPicPr>
        <p:blipFill>
          <a:blip r:embed="rId3"/>
          <a:stretch>
            <a:fillRect/>
          </a:stretch>
        </p:blipFill>
        <p:spPr>
          <a:xfrm>
            <a:off x="912571" y="1735531"/>
            <a:ext cx="460858" cy="460858"/>
          </a:xfrm>
          <a:prstGeom prst="rect">
            <a:avLst/>
          </a:prstGeom>
        </p:spPr>
      </p:pic>
      <p:sp>
        <p:nvSpPr>
          <p:cNvPr id="6" name="Text 3"/>
          <p:cNvSpPr/>
          <p:nvPr/>
        </p:nvSpPr>
        <p:spPr>
          <a:xfrm>
            <a:off x="1735531" y="1296213"/>
            <a:ext cx="9509760" cy="1265936"/>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Rainfall is crucial for Bangladesh's economy and agricultural sector. Data was collected from 1970 to 2016 across weather stations by the Bangladesh Meteorological Department and analyzed using Python.</a:t>
            </a:r>
            <a:endParaRPr lang="en-US" sz="1600" dirty="0"/>
          </a:p>
        </p:txBody>
      </p:sp>
      <p:sp>
        <p:nvSpPr>
          <p:cNvPr id="7" name="Shape 4"/>
          <p:cNvSpPr/>
          <p:nvPr/>
        </p:nvSpPr>
        <p:spPr>
          <a:xfrm>
            <a:off x="621792" y="2798064"/>
            <a:ext cx="10881360" cy="3557016"/>
          </a:xfrm>
          <a:prstGeom prst="roundRect">
            <a:avLst>
              <a:gd name="adj" fmla="val 3333"/>
            </a:avLst>
          </a:prstGeom>
          <a:solidFill>
            <a:srgbClr val="FFFFFF">
              <a:alpha val="94000"/>
            </a:srgbClr>
          </a:solidFill>
          <a:ln/>
        </p:spPr>
        <p:txBody>
          <a:bodyPr/>
          <a:lstStyle/>
          <a:p>
            <a:endParaRPr lang="en-US"/>
          </a:p>
        </p:txBody>
      </p:sp>
      <p:sp>
        <p:nvSpPr>
          <p:cNvPr id="8" name="Text 5"/>
          <p:cNvSpPr/>
          <p:nvPr/>
        </p:nvSpPr>
        <p:spPr>
          <a:xfrm>
            <a:off x="731520" y="3359912"/>
            <a:ext cx="5486400" cy="365760"/>
          </a:xfrm>
          <a:prstGeom prst="rect">
            <a:avLst/>
          </a:prstGeom>
          <a:noFill/>
          <a:ln/>
        </p:spPr>
        <p:txBody>
          <a:bodyPr wrap="square" rtlCol="0" anchor="ctr"/>
          <a:lstStyle/>
          <a:p>
            <a:pPr marL="0" indent="0">
              <a:buNone/>
            </a:pPr>
            <a:r>
              <a:rPr lang="en-US" sz="2400" b="1" kern="0" spc="200" dirty="0">
                <a:solidFill>
                  <a:srgbClr val="8FD4C1"/>
                </a:solidFill>
                <a:latin typeface="Calibri" pitchFamily="34" charset="0"/>
                <a:ea typeface="Calibri" pitchFamily="34" charset="-122"/>
                <a:cs typeface="Calibri" pitchFamily="34" charset="-120"/>
              </a:rPr>
              <a:t>PROBLEM STATEMENT</a:t>
            </a:r>
            <a:endParaRPr lang="en-US" sz="2400" dirty="0"/>
          </a:p>
        </p:txBody>
      </p:sp>
      <p:sp>
        <p:nvSpPr>
          <p:cNvPr id="9" name="Text 6"/>
          <p:cNvSpPr/>
          <p:nvPr/>
        </p:nvSpPr>
        <p:spPr>
          <a:xfrm>
            <a:off x="745236" y="3878885"/>
            <a:ext cx="10701528" cy="1737360"/>
          </a:xfrm>
          <a:prstGeom prst="rect">
            <a:avLst/>
          </a:prstGeom>
          <a:noFill/>
          <a:ln/>
        </p:spPr>
        <p:txBody>
          <a:bodyPr wrap="square" rtlCol="0" anchor="t"/>
          <a:lstStyle/>
          <a:p>
            <a:pPr marL="0" indent="0">
              <a:lnSpc>
                <a:spcPct val="125000"/>
              </a:lnSpc>
              <a:buNone/>
            </a:pPr>
            <a:r>
              <a:rPr lang="en-US" sz="2000" dirty="0">
                <a:latin typeface="Calibri" pitchFamily="34" charset="0"/>
                <a:ea typeface="Calibri" pitchFamily="34" charset="-122"/>
                <a:cs typeface="Calibri" pitchFamily="34" charset="-120"/>
              </a:rPr>
              <a:t>Rainfall variability across Bangladesh's weather stations does not follow one clear trend between 1970 and 2016. While some stations show increased variability, especially in recent years, others have become more stable. Creating an uneven pattern that complicates agricultural planning and flood risk management.</a:t>
            </a:r>
            <a:endParaRPr lang="en-US" sz="2000" dirty="0"/>
          </a:p>
        </p:txBody>
      </p:sp>
      <p:sp>
        <p:nvSpPr>
          <p:cNvPr id="10" name="Text 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Rainfall Variability in Bangladesh (1970–2016)</a:t>
            </a:r>
            <a:endParaRPr lang="en-US" sz="900" dirty="0"/>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832104"/>
            <a:ext cx="73152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Research Objectives</a:t>
            </a:r>
            <a:endParaRPr lang="en-US" sz="3000" dirty="0"/>
          </a:p>
        </p:txBody>
      </p:sp>
      <p:sp>
        <p:nvSpPr>
          <p:cNvPr id="4" name="Shape 2"/>
          <p:cNvSpPr/>
          <p:nvPr/>
        </p:nvSpPr>
        <p:spPr>
          <a:xfrm>
            <a:off x="731520" y="1691640"/>
            <a:ext cx="731520" cy="731520"/>
          </a:xfrm>
          <a:prstGeom prst="ellipse">
            <a:avLst/>
          </a:prstGeom>
          <a:solidFill>
            <a:srgbClr val="065A82"/>
          </a:solidFill>
          <a:ln/>
        </p:spPr>
        <p:txBody>
          <a:bodyPr/>
          <a:lstStyle/>
          <a:p>
            <a:endParaRPr lang="en-US"/>
          </a:p>
        </p:txBody>
      </p:sp>
      <p:sp>
        <p:nvSpPr>
          <p:cNvPr id="5" name="Text 3"/>
          <p:cNvSpPr/>
          <p:nvPr/>
        </p:nvSpPr>
        <p:spPr>
          <a:xfrm>
            <a:off x="731520" y="169164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737360" y="1673352"/>
            <a:ext cx="9692640" cy="777240"/>
          </a:xfrm>
          <a:prstGeom prst="rect">
            <a:avLst/>
          </a:prstGeom>
          <a:noFill/>
          <a:ln/>
        </p:spPr>
        <p:txBody>
          <a:bodyPr wrap="square" rtlCol="0" anchor="ctr"/>
          <a:lstStyle/>
          <a:p>
            <a:pPr marL="0" indent="0">
              <a:buNone/>
            </a:pPr>
            <a:r>
              <a:rPr lang="en-US" sz="1500" dirty="0">
                <a:solidFill>
                  <a:srgbClr val="21295C"/>
                </a:solidFill>
                <a:latin typeface="Calibri" pitchFamily="34" charset="0"/>
                <a:ea typeface="Calibri" pitchFamily="34" charset="-122"/>
                <a:cs typeface="Calibri" pitchFamily="34" charset="-120"/>
              </a:rPr>
              <a:t>What are the top regions with the highest average rainfall (1970–2016)?</a:t>
            </a:r>
            <a:endParaRPr lang="en-US" sz="1500" dirty="0"/>
          </a:p>
        </p:txBody>
      </p:sp>
      <p:sp>
        <p:nvSpPr>
          <p:cNvPr id="7" name="Shape 5"/>
          <p:cNvSpPr/>
          <p:nvPr/>
        </p:nvSpPr>
        <p:spPr>
          <a:xfrm>
            <a:off x="731520" y="2624328"/>
            <a:ext cx="731520" cy="731520"/>
          </a:xfrm>
          <a:prstGeom prst="ellipse">
            <a:avLst/>
          </a:prstGeom>
          <a:solidFill>
            <a:srgbClr val="1C7293"/>
          </a:solidFill>
          <a:ln/>
        </p:spPr>
        <p:txBody>
          <a:bodyPr/>
          <a:lstStyle/>
          <a:p>
            <a:endParaRPr lang="en-US"/>
          </a:p>
        </p:txBody>
      </p:sp>
      <p:sp>
        <p:nvSpPr>
          <p:cNvPr id="8" name="Text 6"/>
          <p:cNvSpPr/>
          <p:nvPr/>
        </p:nvSpPr>
        <p:spPr>
          <a:xfrm>
            <a:off x="731520" y="2624328"/>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1737360" y="2606040"/>
            <a:ext cx="9692640" cy="777240"/>
          </a:xfrm>
          <a:prstGeom prst="rect">
            <a:avLst/>
          </a:prstGeom>
          <a:noFill/>
          <a:ln/>
        </p:spPr>
        <p:txBody>
          <a:bodyPr wrap="square" rtlCol="0" anchor="ctr"/>
          <a:lstStyle/>
          <a:p>
            <a:pPr marL="0" indent="0">
              <a:buNone/>
            </a:pPr>
            <a:r>
              <a:rPr lang="en-US" sz="1500" dirty="0">
                <a:solidFill>
                  <a:srgbClr val="21295C"/>
                </a:solidFill>
                <a:latin typeface="Calibri" pitchFamily="34" charset="0"/>
                <a:ea typeface="Calibri" pitchFamily="34" charset="-122"/>
                <a:cs typeface="Calibri" pitchFamily="34" charset="-120"/>
              </a:rPr>
              <a:t>Which months offer the highest average rainfall with the lowest variability — best suited for planting?</a:t>
            </a:r>
            <a:endParaRPr lang="en-US" sz="1500" dirty="0"/>
          </a:p>
        </p:txBody>
      </p:sp>
      <p:sp>
        <p:nvSpPr>
          <p:cNvPr id="10" name="Shape 8"/>
          <p:cNvSpPr/>
          <p:nvPr/>
        </p:nvSpPr>
        <p:spPr>
          <a:xfrm>
            <a:off x="731520" y="3557016"/>
            <a:ext cx="731520" cy="731520"/>
          </a:xfrm>
          <a:prstGeom prst="ellipse">
            <a:avLst/>
          </a:prstGeom>
          <a:solidFill>
            <a:srgbClr val="065A82"/>
          </a:solidFill>
          <a:ln/>
        </p:spPr>
        <p:txBody>
          <a:bodyPr/>
          <a:lstStyle/>
          <a:p>
            <a:endParaRPr lang="en-US"/>
          </a:p>
        </p:txBody>
      </p:sp>
      <p:sp>
        <p:nvSpPr>
          <p:cNvPr id="11" name="Text 9"/>
          <p:cNvSpPr/>
          <p:nvPr/>
        </p:nvSpPr>
        <p:spPr>
          <a:xfrm>
            <a:off x="731520" y="3557016"/>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2" name="Text 10"/>
          <p:cNvSpPr/>
          <p:nvPr/>
        </p:nvSpPr>
        <p:spPr>
          <a:xfrm>
            <a:off x="1737360" y="3538728"/>
            <a:ext cx="9692640" cy="777240"/>
          </a:xfrm>
          <a:prstGeom prst="rect">
            <a:avLst/>
          </a:prstGeom>
          <a:noFill/>
          <a:ln/>
        </p:spPr>
        <p:txBody>
          <a:bodyPr wrap="square" rtlCol="0" anchor="ctr"/>
          <a:lstStyle/>
          <a:p>
            <a:pPr marL="0" indent="0">
              <a:buNone/>
            </a:pPr>
            <a:r>
              <a:rPr lang="en-US" sz="1500" dirty="0">
                <a:solidFill>
                  <a:srgbClr val="21295C"/>
                </a:solidFill>
                <a:latin typeface="Calibri" pitchFamily="34" charset="0"/>
                <a:ea typeface="Calibri" pitchFamily="34" charset="-122"/>
                <a:cs typeface="Calibri" pitchFamily="34" charset="-120"/>
              </a:rPr>
              <a:t>How does rainfall variability (CV) change across decades, station by station?</a:t>
            </a:r>
            <a:endParaRPr lang="en-US" sz="1500" dirty="0"/>
          </a:p>
        </p:txBody>
      </p:sp>
      <p:sp>
        <p:nvSpPr>
          <p:cNvPr id="13" name="Shape 11"/>
          <p:cNvSpPr/>
          <p:nvPr/>
        </p:nvSpPr>
        <p:spPr>
          <a:xfrm>
            <a:off x="731520" y="4489704"/>
            <a:ext cx="731520" cy="731520"/>
          </a:xfrm>
          <a:prstGeom prst="ellipse">
            <a:avLst/>
          </a:prstGeom>
          <a:solidFill>
            <a:srgbClr val="1C7293"/>
          </a:solidFill>
          <a:ln/>
        </p:spPr>
        <p:txBody>
          <a:bodyPr/>
          <a:lstStyle/>
          <a:p>
            <a:endParaRPr lang="en-US"/>
          </a:p>
        </p:txBody>
      </p:sp>
      <p:sp>
        <p:nvSpPr>
          <p:cNvPr id="14" name="Text 12"/>
          <p:cNvSpPr/>
          <p:nvPr/>
        </p:nvSpPr>
        <p:spPr>
          <a:xfrm>
            <a:off x="731520" y="4489704"/>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5" name="Text 13"/>
          <p:cNvSpPr/>
          <p:nvPr/>
        </p:nvSpPr>
        <p:spPr>
          <a:xfrm>
            <a:off x="1737360" y="4471416"/>
            <a:ext cx="9692640" cy="777240"/>
          </a:xfrm>
          <a:prstGeom prst="rect">
            <a:avLst/>
          </a:prstGeom>
          <a:noFill/>
          <a:ln/>
        </p:spPr>
        <p:txBody>
          <a:bodyPr wrap="square" rtlCol="0" anchor="ctr"/>
          <a:lstStyle/>
          <a:p>
            <a:pPr marL="0" indent="0">
              <a:buNone/>
            </a:pPr>
            <a:r>
              <a:rPr lang="en-US" sz="1500" dirty="0">
                <a:solidFill>
                  <a:srgbClr val="21295C"/>
                </a:solidFill>
                <a:latin typeface="Calibri" pitchFamily="34" charset="0"/>
                <a:ea typeface="Calibri" pitchFamily="34" charset="-122"/>
                <a:cs typeface="Calibri" pitchFamily="34" charset="-120"/>
              </a:rPr>
              <a:t>Which season records the most months of extreme rainfall — indicating flood risk?</a:t>
            </a:r>
            <a:endParaRPr lang="en-US" sz="1500" dirty="0"/>
          </a:p>
        </p:txBody>
      </p:sp>
      <p:sp>
        <p:nvSpPr>
          <p:cNvPr id="16" name="Shape 14"/>
          <p:cNvSpPr/>
          <p:nvPr/>
        </p:nvSpPr>
        <p:spPr>
          <a:xfrm>
            <a:off x="731520" y="5422392"/>
            <a:ext cx="731520" cy="731520"/>
          </a:xfrm>
          <a:prstGeom prst="ellipse">
            <a:avLst/>
          </a:prstGeom>
          <a:solidFill>
            <a:srgbClr val="065A82"/>
          </a:solidFill>
          <a:ln/>
        </p:spPr>
        <p:txBody>
          <a:bodyPr/>
          <a:lstStyle/>
          <a:p>
            <a:endParaRPr lang="en-US"/>
          </a:p>
        </p:txBody>
      </p:sp>
      <p:sp>
        <p:nvSpPr>
          <p:cNvPr id="17" name="Text 15"/>
          <p:cNvSpPr/>
          <p:nvPr/>
        </p:nvSpPr>
        <p:spPr>
          <a:xfrm>
            <a:off x="731520" y="5422392"/>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8" name="Text 16"/>
          <p:cNvSpPr/>
          <p:nvPr/>
        </p:nvSpPr>
        <p:spPr>
          <a:xfrm>
            <a:off x="1737360" y="5404104"/>
            <a:ext cx="9692640" cy="777240"/>
          </a:xfrm>
          <a:prstGeom prst="rect">
            <a:avLst/>
          </a:prstGeom>
          <a:noFill/>
          <a:ln/>
        </p:spPr>
        <p:txBody>
          <a:bodyPr wrap="square" rtlCol="0" anchor="ctr"/>
          <a:lstStyle/>
          <a:p>
            <a:pPr marL="0" indent="0">
              <a:buNone/>
            </a:pPr>
            <a:r>
              <a:rPr lang="en-US" sz="1500" dirty="0">
                <a:solidFill>
                  <a:srgbClr val="21295C"/>
                </a:solidFill>
                <a:latin typeface="Calibri" pitchFamily="34" charset="0"/>
                <a:ea typeface="Calibri" pitchFamily="34" charset="-122"/>
                <a:cs typeface="Calibri" pitchFamily="34" charset="-120"/>
              </a:rPr>
              <a:t>Is there a correlation between rainfall amount and rainfall variability?</a:t>
            </a:r>
            <a:endParaRPr lang="en-US" sz="1500" dirty="0"/>
          </a:p>
        </p:txBody>
      </p:sp>
      <p:sp>
        <p:nvSpPr>
          <p:cNvPr id="19" name="Text 1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365760"/>
          </a:xfrm>
          <a:prstGeom prst="rect">
            <a:avLst/>
          </a:prstGeom>
          <a:noFill/>
          <a:ln/>
        </p:spPr>
        <p:txBody>
          <a:bodyPr wrap="square"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Objective 1</a:t>
            </a:r>
            <a:endParaRPr lang="en-US" sz="1400" dirty="0"/>
          </a:p>
        </p:txBody>
      </p:sp>
      <p:sp>
        <p:nvSpPr>
          <p:cNvPr id="3" name="Text 1"/>
          <p:cNvSpPr/>
          <p:nvPr/>
        </p:nvSpPr>
        <p:spPr>
          <a:xfrm>
            <a:off x="640080" y="731520"/>
            <a:ext cx="8229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Average Rainfall by Station</a:t>
            </a:r>
            <a:endParaRPr lang="en-US" sz="2600" dirty="0"/>
          </a:p>
        </p:txBody>
      </p:sp>
      <p:graphicFrame>
        <p:nvGraphicFramePr>
          <p:cNvPr id="4" name="Chart 0"/>
          <p:cNvGraphicFramePr/>
          <p:nvPr/>
        </p:nvGraphicFramePr>
        <p:xfrm>
          <a:off x="548640" y="1417320"/>
          <a:ext cx="70408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909560" y="1600200"/>
            <a:ext cx="3703320" cy="2103120"/>
          </a:xfrm>
          <a:prstGeom prst="roundRect">
            <a:avLst>
              <a:gd name="adj" fmla="val 4348"/>
            </a:avLst>
          </a:prstGeom>
          <a:solidFill>
            <a:srgbClr val="F2704F">
              <a:alpha val="12000"/>
            </a:srgbClr>
          </a:solidFill>
          <a:ln w="12700">
            <a:solidFill>
              <a:srgbClr val="F2704F"/>
            </a:solidFill>
            <a:prstDash val="solid"/>
          </a:ln>
        </p:spPr>
        <p:txBody>
          <a:bodyPr/>
          <a:lstStyle/>
          <a:p>
            <a:endParaRPr lang="en-US"/>
          </a:p>
        </p:txBody>
      </p:sp>
      <p:sp>
        <p:nvSpPr>
          <p:cNvPr id="6" name="Text 3"/>
          <p:cNvSpPr/>
          <p:nvPr/>
        </p:nvSpPr>
        <p:spPr>
          <a:xfrm>
            <a:off x="8138160" y="1783080"/>
            <a:ext cx="3291840" cy="320040"/>
          </a:xfrm>
          <a:prstGeom prst="rect">
            <a:avLst/>
          </a:prstGeom>
          <a:noFill/>
          <a:ln/>
        </p:spPr>
        <p:txBody>
          <a:bodyPr wrap="square" rtlCol="0" anchor="ctr"/>
          <a:lstStyle/>
          <a:p>
            <a:pPr marL="0" indent="0">
              <a:buNone/>
            </a:pPr>
            <a:r>
              <a:rPr lang="en-US" sz="1100" b="1" kern="0" spc="150" dirty="0">
                <a:solidFill>
                  <a:srgbClr val="F2704F"/>
                </a:solidFill>
                <a:latin typeface="Calibri" pitchFamily="34" charset="0"/>
                <a:ea typeface="Calibri" pitchFamily="34" charset="-122"/>
                <a:cs typeface="Calibri" pitchFamily="34" charset="-120"/>
              </a:rPr>
              <a:t>HIGHEST RAINFALL</a:t>
            </a:r>
            <a:endParaRPr lang="en-US" sz="1100" dirty="0"/>
          </a:p>
        </p:txBody>
      </p:sp>
      <p:sp>
        <p:nvSpPr>
          <p:cNvPr id="7" name="Text 4"/>
          <p:cNvSpPr/>
          <p:nvPr/>
        </p:nvSpPr>
        <p:spPr>
          <a:xfrm>
            <a:off x="8138160" y="2148840"/>
            <a:ext cx="3291840" cy="1371600"/>
          </a:xfrm>
          <a:prstGeom prst="rect">
            <a:avLst/>
          </a:prstGeom>
          <a:noFill/>
          <a:ln/>
        </p:spPr>
        <p:txBody>
          <a:bodyPr wrap="square"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CoxsBazar, Rangamati,</a:t>
            </a:r>
            <a:endParaRPr lang="en-US" sz="1700" dirty="0"/>
          </a:p>
          <a:p>
            <a:pPr marL="0" indent="0">
              <a:buNone/>
            </a:pPr>
            <a:r>
              <a:rPr lang="en-US" sz="1700" b="1" dirty="0">
                <a:solidFill>
                  <a:srgbClr val="21295C"/>
                </a:solidFill>
                <a:latin typeface="Cambria" pitchFamily="34" charset="0"/>
                <a:ea typeface="Cambria" pitchFamily="34" charset="-122"/>
                <a:cs typeface="Cambria" pitchFamily="34" charset="-120"/>
              </a:rPr>
              <a:t>and Bhola</a:t>
            </a:r>
            <a:endParaRPr lang="en-US" sz="1700" dirty="0"/>
          </a:p>
        </p:txBody>
      </p:sp>
      <p:sp>
        <p:nvSpPr>
          <p:cNvPr id="8" name="Shape 5"/>
          <p:cNvSpPr/>
          <p:nvPr/>
        </p:nvSpPr>
        <p:spPr>
          <a:xfrm>
            <a:off x="7909560" y="3977640"/>
            <a:ext cx="3703320" cy="2103120"/>
          </a:xfrm>
          <a:prstGeom prst="roundRect">
            <a:avLst>
              <a:gd name="adj" fmla="val 4348"/>
            </a:avLst>
          </a:prstGeom>
          <a:solidFill>
            <a:srgbClr val="065A82">
              <a:alpha val="10000"/>
            </a:srgbClr>
          </a:solidFill>
          <a:ln w="12700">
            <a:solidFill>
              <a:srgbClr val="065A82"/>
            </a:solidFill>
            <a:prstDash val="solid"/>
          </a:ln>
        </p:spPr>
        <p:txBody>
          <a:bodyPr/>
          <a:lstStyle/>
          <a:p>
            <a:endParaRPr lang="en-US"/>
          </a:p>
        </p:txBody>
      </p:sp>
      <p:sp>
        <p:nvSpPr>
          <p:cNvPr id="9" name="Text 6"/>
          <p:cNvSpPr/>
          <p:nvPr/>
        </p:nvSpPr>
        <p:spPr>
          <a:xfrm>
            <a:off x="8138160" y="4160520"/>
            <a:ext cx="3291840" cy="320040"/>
          </a:xfrm>
          <a:prstGeom prst="rect">
            <a:avLst/>
          </a:prstGeom>
          <a:noFill/>
          <a:ln/>
        </p:spPr>
        <p:txBody>
          <a:bodyPr wrap="square"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LOWEST RAINFALL</a:t>
            </a:r>
            <a:endParaRPr lang="en-US" sz="1100" dirty="0"/>
          </a:p>
        </p:txBody>
      </p:sp>
      <p:sp>
        <p:nvSpPr>
          <p:cNvPr id="10" name="Text 7"/>
          <p:cNvSpPr/>
          <p:nvPr/>
        </p:nvSpPr>
        <p:spPr>
          <a:xfrm>
            <a:off x="8138160" y="4526280"/>
            <a:ext cx="3291840" cy="1371600"/>
          </a:xfrm>
          <a:prstGeom prst="rect">
            <a:avLst/>
          </a:prstGeom>
          <a:noFill/>
          <a:ln/>
        </p:spPr>
        <p:txBody>
          <a:bodyPr wrap="square"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Ishurdi, Satkhira,</a:t>
            </a:r>
            <a:endParaRPr lang="en-US" sz="1700" dirty="0"/>
          </a:p>
          <a:p>
            <a:pPr marL="0" indent="0">
              <a:buNone/>
            </a:pPr>
            <a:r>
              <a:rPr lang="en-US" sz="1700" b="1" dirty="0">
                <a:solidFill>
                  <a:srgbClr val="21295C"/>
                </a:solidFill>
                <a:latin typeface="Cambria" pitchFamily="34" charset="0"/>
                <a:ea typeface="Cambria" pitchFamily="34" charset="-122"/>
                <a:cs typeface="Cambria" pitchFamily="34" charset="-120"/>
              </a:rPr>
              <a:t>and Bogra</a:t>
            </a:r>
            <a:endParaRPr lang="en-US" sz="1700" dirty="0"/>
          </a:p>
        </p:txBody>
      </p:sp>
      <p:sp>
        <p:nvSpPr>
          <p:cNvPr id="11" name="Text 8"/>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91445"/>
            <a:ext cx="4572000" cy="365760"/>
          </a:xfrm>
          <a:prstGeom prst="rect">
            <a:avLst/>
          </a:prstGeom>
          <a:noFill/>
          <a:ln/>
        </p:spPr>
        <p:txBody>
          <a:bodyPr wrap="square"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Objective 2</a:t>
            </a:r>
            <a:endParaRPr lang="en-US" sz="1400" dirty="0"/>
          </a:p>
        </p:txBody>
      </p:sp>
      <p:sp>
        <p:nvSpPr>
          <p:cNvPr id="3" name="Text 1"/>
          <p:cNvSpPr/>
          <p:nvPr/>
        </p:nvSpPr>
        <p:spPr>
          <a:xfrm>
            <a:off x="640080" y="731520"/>
            <a:ext cx="8229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Best Months for Planting</a:t>
            </a:r>
            <a:endParaRPr lang="en-US" sz="2600" dirty="0"/>
          </a:p>
        </p:txBody>
      </p:sp>
      <p:sp>
        <p:nvSpPr>
          <p:cNvPr id="4" name="Text 2"/>
          <p:cNvSpPr/>
          <p:nvPr/>
        </p:nvSpPr>
        <p:spPr>
          <a:xfrm>
            <a:off x="640080" y="1234440"/>
            <a:ext cx="9144000" cy="32004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Average rainfall and Coefficient of Variation, by month (1970–2016)</a:t>
            </a:r>
            <a:endParaRPr lang="en-US" sz="1300" dirty="0"/>
          </a:p>
        </p:txBody>
      </p:sp>
      <p:sp>
        <p:nvSpPr>
          <p:cNvPr id="5" name="Text 3"/>
          <p:cNvSpPr/>
          <p:nvPr/>
        </p:nvSpPr>
        <p:spPr>
          <a:xfrm>
            <a:off x="548640" y="1691640"/>
            <a:ext cx="548640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Average Rainfall (mm)</a:t>
            </a:r>
            <a:endParaRPr lang="en-US" sz="1200" dirty="0"/>
          </a:p>
        </p:txBody>
      </p:sp>
      <p:graphicFrame>
        <p:nvGraphicFramePr>
          <p:cNvPr id="6" name="Chart 0"/>
          <p:cNvGraphicFramePr/>
          <p:nvPr/>
        </p:nvGraphicFramePr>
        <p:xfrm>
          <a:off x="457200" y="196596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172200" y="1691640"/>
            <a:ext cx="5486400" cy="274320"/>
          </a:xfrm>
          <a:prstGeom prst="rect">
            <a:avLst/>
          </a:prstGeom>
          <a:noFill/>
          <a:ln/>
        </p:spPr>
        <p:txBody>
          <a:bodyPr wrap="square" rtlCol="0" anchor="ctr"/>
          <a:lstStyle/>
          <a:p>
            <a:pPr marL="0" indent="0">
              <a:buNone/>
            </a:pPr>
            <a:r>
              <a:rPr lang="en-US" sz="1200" b="1" dirty="0">
                <a:solidFill>
                  <a:srgbClr val="F2704F"/>
                </a:solidFill>
                <a:latin typeface="Calibri" pitchFamily="34" charset="0"/>
                <a:ea typeface="Calibri" pitchFamily="34" charset="-122"/>
                <a:cs typeface="Calibri" pitchFamily="34" charset="-120"/>
              </a:rPr>
              <a:t>Coefficient of Variation (%)</a:t>
            </a:r>
            <a:endParaRPr lang="en-US" sz="1200" dirty="0"/>
          </a:p>
        </p:txBody>
      </p:sp>
      <p:graphicFrame>
        <p:nvGraphicFramePr>
          <p:cNvPr id="8" name="Chart 1"/>
          <p:cNvGraphicFramePr/>
          <p:nvPr/>
        </p:nvGraphicFramePr>
        <p:xfrm>
          <a:off x="6126480" y="1965960"/>
          <a:ext cx="553212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10" name="Text 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1C7293">
              <a:alpha val="40000"/>
            </a:srgbClr>
          </a:solidFill>
          <a:ln/>
        </p:spPr>
        <p:txBody>
          <a:bodyPr/>
          <a:lstStyle/>
          <a:p>
            <a:endParaRPr lang="en-US"/>
          </a:p>
        </p:txBody>
      </p:sp>
      <p:sp>
        <p:nvSpPr>
          <p:cNvPr id="3" name="Text 1"/>
          <p:cNvSpPr/>
          <p:nvPr/>
        </p:nvSpPr>
        <p:spPr>
          <a:xfrm>
            <a:off x="640080" y="548640"/>
            <a:ext cx="8229600" cy="457200"/>
          </a:xfrm>
          <a:prstGeom prst="rect">
            <a:avLst/>
          </a:prstGeom>
          <a:noFill/>
          <a:ln/>
        </p:spPr>
        <p:txBody>
          <a:bodyPr wrap="square" rtlCol="0" anchor="ctr"/>
          <a:lstStyle/>
          <a:p>
            <a:pPr marL="0" indent="0">
              <a:buNone/>
            </a:pPr>
            <a:r>
              <a:rPr lang="en-US" sz="1500" b="1" kern="0" spc="200" dirty="0">
                <a:solidFill>
                  <a:srgbClr val="8FD4C1"/>
                </a:solidFill>
                <a:latin typeface="Calibri" pitchFamily="34" charset="0"/>
                <a:ea typeface="Calibri" pitchFamily="34" charset="-122"/>
                <a:cs typeface="Calibri" pitchFamily="34" charset="-120"/>
              </a:rPr>
              <a:t>Objective 2 — Conclusion</a:t>
            </a:r>
            <a:endParaRPr lang="en-US" sz="1500" dirty="0"/>
          </a:p>
        </p:txBody>
      </p:sp>
      <p:sp>
        <p:nvSpPr>
          <p:cNvPr id="4" name="Text 2"/>
          <p:cNvSpPr/>
          <p:nvPr/>
        </p:nvSpPr>
        <p:spPr>
          <a:xfrm>
            <a:off x="640080" y="1097280"/>
            <a:ext cx="7315200" cy="15544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July is the Most Reliable</a:t>
            </a:r>
            <a:endParaRPr lang="en-US" sz="3200" dirty="0"/>
          </a:p>
          <a:p>
            <a:pPr marL="0" indent="0">
              <a:buNone/>
            </a:pPr>
            <a:r>
              <a:rPr lang="en-US" sz="3200" b="1" dirty="0">
                <a:solidFill>
                  <a:srgbClr val="FFFFFF"/>
                </a:solidFill>
                <a:latin typeface="Cambria" pitchFamily="34" charset="0"/>
                <a:ea typeface="Cambria" pitchFamily="34" charset="-122"/>
                <a:cs typeface="Cambria" pitchFamily="34" charset="-120"/>
              </a:rPr>
              <a:t>Planting Month</a:t>
            </a:r>
            <a:endParaRPr lang="en-US" sz="3200" dirty="0"/>
          </a:p>
        </p:txBody>
      </p:sp>
      <p:sp>
        <p:nvSpPr>
          <p:cNvPr id="5" name="Text 3"/>
          <p:cNvSpPr/>
          <p:nvPr/>
        </p:nvSpPr>
        <p:spPr>
          <a:xfrm>
            <a:off x="640080" y="3108960"/>
            <a:ext cx="3383280" cy="82296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523 mm</a:t>
            </a:r>
            <a:endParaRPr lang="en-US" sz="4400" dirty="0"/>
          </a:p>
        </p:txBody>
      </p:sp>
      <p:sp>
        <p:nvSpPr>
          <p:cNvPr id="6" name="Text 4"/>
          <p:cNvSpPr/>
          <p:nvPr/>
        </p:nvSpPr>
        <p:spPr>
          <a:xfrm>
            <a:off x="640080" y="3931920"/>
            <a:ext cx="3383280" cy="73152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Highest average</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monthly rainfall</a:t>
            </a:r>
            <a:endParaRPr lang="en-US" sz="1300" dirty="0"/>
          </a:p>
        </p:txBody>
      </p:sp>
      <p:sp>
        <p:nvSpPr>
          <p:cNvPr id="7" name="Text 5"/>
          <p:cNvSpPr/>
          <p:nvPr/>
        </p:nvSpPr>
        <p:spPr>
          <a:xfrm>
            <a:off x="4343400" y="3108960"/>
            <a:ext cx="3383280" cy="82296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59%</a:t>
            </a:r>
            <a:endParaRPr lang="en-US" sz="4400" dirty="0"/>
          </a:p>
        </p:txBody>
      </p:sp>
      <p:sp>
        <p:nvSpPr>
          <p:cNvPr id="8" name="Text 6"/>
          <p:cNvSpPr/>
          <p:nvPr/>
        </p:nvSpPr>
        <p:spPr>
          <a:xfrm>
            <a:off x="4343400" y="3931920"/>
            <a:ext cx="3383280" cy="73152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Relatively low</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variability (CV)</a:t>
            </a:r>
            <a:endParaRPr lang="en-US" sz="1300" dirty="0"/>
          </a:p>
        </p:txBody>
      </p:sp>
      <p:sp>
        <p:nvSpPr>
          <p:cNvPr id="9" name="Text 7"/>
          <p:cNvSpPr/>
          <p:nvPr/>
        </p:nvSpPr>
        <p:spPr>
          <a:xfrm>
            <a:off x="8046720" y="3108960"/>
            <a:ext cx="3383280" cy="82296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Jun–Sep</a:t>
            </a:r>
            <a:endParaRPr lang="en-US" sz="4400" dirty="0"/>
          </a:p>
        </p:txBody>
      </p:sp>
      <p:sp>
        <p:nvSpPr>
          <p:cNvPr id="10" name="Text 8"/>
          <p:cNvSpPr/>
          <p:nvPr/>
        </p:nvSpPr>
        <p:spPr>
          <a:xfrm>
            <a:off x="8046720" y="3931920"/>
            <a:ext cx="3383280" cy="73152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The Monsoon window:</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high &amp; stable rainfall</a:t>
            </a:r>
            <a:endParaRPr lang="en-US" sz="1300" dirty="0"/>
          </a:p>
        </p:txBody>
      </p:sp>
      <p:sp>
        <p:nvSpPr>
          <p:cNvPr id="11" name="Text 9"/>
          <p:cNvSpPr/>
          <p:nvPr/>
        </p:nvSpPr>
        <p:spPr>
          <a:xfrm>
            <a:off x="640080" y="5212080"/>
            <a:ext cx="10515600" cy="8229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July combines the highest average rainfall of any month with one of the lowest coefficients of variation  making it the most dependable month for planting decisions.</a:t>
            </a:r>
            <a:endParaRPr lang="en-US" sz="1400" dirty="0"/>
          </a:p>
        </p:txBody>
      </p:sp>
      <p:sp>
        <p:nvSpPr>
          <p:cNvPr id="12" name="Text 10"/>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Rainfall Variability in Bangladesh (1970–2016)</a:t>
            </a:r>
            <a:endParaRPr lang="en-US" sz="9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4572000" cy="365760"/>
          </a:xfrm>
          <a:prstGeom prst="rect">
            <a:avLst/>
          </a:prstGeom>
          <a:noFill/>
          <a:ln/>
        </p:spPr>
        <p:txBody>
          <a:bodyPr wrap="square"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Objective 3</a:t>
            </a:r>
            <a:endParaRPr lang="en-US" sz="14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500" b="1" dirty="0">
                <a:solidFill>
                  <a:srgbClr val="21295C"/>
                </a:solidFill>
                <a:latin typeface="Cambria" pitchFamily="34" charset="0"/>
                <a:ea typeface="Cambria" pitchFamily="34" charset="-122"/>
                <a:cs typeface="Cambria" pitchFamily="34" charset="-120"/>
              </a:rPr>
              <a:t>Rainfall Variability Across Decades</a:t>
            </a:r>
            <a:endParaRPr lang="en-US" sz="2500" dirty="0"/>
          </a:p>
        </p:txBody>
      </p:sp>
      <p:sp>
        <p:nvSpPr>
          <p:cNvPr id="4" name="Text 2"/>
          <p:cNvSpPr/>
          <p:nvPr/>
        </p:nvSpPr>
        <p:spPr>
          <a:xfrm>
            <a:off x="640080" y="1170432"/>
            <a:ext cx="9144000" cy="32004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Coefficient of Variation (%) by station, 1970–2016</a:t>
            </a:r>
            <a:endParaRPr lang="en-US" sz="1300" dirty="0"/>
          </a:p>
        </p:txBody>
      </p:sp>
      <p:graphicFrame>
        <p:nvGraphicFramePr>
          <p:cNvPr id="5" name="Chart 0"/>
          <p:cNvGraphicFramePr/>
          <p:nvPr>
            <p:extLst>
              <p:ext uri="{D42A27DB-BD31-4B8C-83A1-F6EECF244321}">
                <p14:modId xmlns:p14="http://schemas.microsoft.com/office/powerpoint/2010/main" val="3460988911"/>
              </p:ext>
            </p:extLst>
          </p:nvPr>
        </p:nvGraphicFramePr>
        <p:xfrm>
          <a:off x="256032" y="1554480"/>
          <a:ext cx="112471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marL="0" indent="0">
              <a:buNone/>
            </a:pPr>
            <a:r>
              <a:rPr lang="en-US" sz="1400" b="1" kern="0" spc="200" dirty="0">
                <a:solidFill>
                  <a:srgbClr val="8FD4C1"/>
                </a:solidFill>
                <a:latin typeface="Calibri" pitchFamily="34" charset="0"/>
                <a:ea typeface="Calibri" pitchFamily="34" charset="-122"/>
                <a:cs typeface="Calibri" pitchFamily="34" charset="-120"/>
              </a:rPr>
              <a:t>Objective 4</a:t>
            </a:r>
            <a:endParaRPr lang="en-US" sz="1400" dirty="0"/>
          </a:p>
        </p:txBody>
      </p:sp>
      <p:sp>
        <p:nvSpPr>
          <p:cNvPr id="3" name="Text 1"/>
          <p:cNvSpPr/>
          <p:nvPr/>
        </p:nvSpPr>
        <p:spPr>
          <a:xfrm>
            <a:off x="640080" y="777240"/>
            <a:ext cx="8229600" cy="54864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Flood Risk by Season</a:t>
            </a:r>
            <a:endParaRPr lang="en-US" sz="2700" dirty="0"/>
          </a:p>
        </p:txBody>
      </p:sp>
      <p:sp>
        <p:nvSpPr>
          <p:cNvPr id="4" name="Text 2"/>
          <p:cNvSpPr/>
          <p:nvPr/>
        </p:nvSpPr>
        <p:spPr>
          <a:xfrm>
            <a:off x="640080" y="1280160"/>
            <a:ext cx="9601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Share of months exceeding the extreme-rainfall threshold (Mean + 2×SD), 1970–2016</a:t>
            </a:r>
            <a:endParaRPr lang="en-US" sz="1300" dirty="0"/>
          </a:p>
        </p:txBody>
      </p:sp>
      <p:graphicFrame>
        <p:nvGraphicFramePr>
          <p:cNvPr id="5" name="Chart 0"/>
          <p:cNvGraphicFramePr/>
          <p:nvPr>
            <p:extLst>
              <p:ext uri="{D42A27DB-BD31-4B8C-83A1-F6EECF244321}">
                <p14:modId xmlns:p14="http://schemas.microsoft.com/office/powerpoint/2010/main" val="777595259"/>
              </p:ext>
            </p:extLst>
          </p:nvPr>
        </p:nvGraphicFramePr>
        <p:xfrm>
          <a:off x="548640" y="1828800"/>
          <a:ext cx="59436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34200" y="2221992"/>
            <a:ext cx="4709160" cy="3566160"/>
          </a:xfrm>
          <a:prstGeom prst="roundRect">
            <a:avLst>
              <a:gd name="adj" fmla="val 2564"/>
            </a:avLst>
          </a:prstGeom>
          <a:solidFill>
            <a:srgbClr val="FFFFFF">
              <a:alpha val="94000"/>
            </a:srgbClr>
          </a:solidFill>
          <a:ln/>
        </p:spPr>
        <p:txBody>
          <a:bodyPr/>
          <a:lstStyle/>
          <a:p>
            <a:endParaRPr lang="en-US"/>
          </a:p>
        </p:txBody>
      </p:sp>
      <p:sp>
        <p:nvSpPr>
          <p:cNvPr id="7" name="Text 4"/>
          <p:cNvSpPr/>
          <p:nvPr/>
        </p:nvSpPr>
        <p:spPr>
          <a:xfrm>
            <a:off x="7132320" y="2331720"/>
            <a:ext cx="4114800" cy="1188720"/>
          </a:xfrm>
          <a:prstGeom prst="rect">
            <a:avLst/>
          </a:prstGeom>
          <a:noFill/>
          <a:ln/>
        </p:spPr>
        <p:txBody>
          <a:bodyPr wrap="square" rtlCol="0" anchor="ctr"/>
          <a:lstStyle/>
          <a:p>
            <a:pPr marL="0" indent="0">
              <a:buNone/>
            </a:pPr>
            <a:r>
              <a:rPr lang="en-US" sz="6000" b="1" dirty="0">
                <a:solidFill>
                  <a:srgbClr val="F2704F"/>
                </a:solidFill>
                <a:latin typeface="Cambria" pitchFamily="34" charset="0"/>
                <a:ea typeface="Cambria" pitchFamily="34" charset="-122"/>
                <a:cs typeface="Cambria" pitchFamily="34" charset="-120"/>
              </a:rPr>
              <a:t>93%</a:t>
            </a:r>
            <a:endParaRPr lang="en-US" sz="6000" dirty="0"/>
          </a:p>
        </p:txBody>
      </p:sp>
      <p:sp>
        <p:nvSpPr>
          <p:cNvPr id="8" name="Text 5"/>
          <p:cNvSpPr/>
          <p:nvPr/>
        </p:nvSpPr>
        <p:spPr>
          <a:xfrm>
            <a:off x="7132320" y="3520440"/>
            <a:ext cx="4599432" cy="1371600"/>
          </a:xfrm>
          <a:prstGeom prst="rect">
            <a:avLst/>
          </a:prstGeom>
          <a:noFill/>
          <a:ln/>
        </p:spPr>
        <p:txBody>
          <a:bodyPr wrap="square" rtlCol="0" anchor="ctr"/>
          <a:lstStyle/>
          <a:p>
            <a:pPr marL="0" indent="0">
              <a:buNone/>
            </a:pPr>
            <a:r>
              <a:rPr lang="en-US" sz="1500" dirty="0">
                <a:latin typeface="Calibri" pitchFamily="34" charset="0"/>
                <a:ea typeface="Calibri" pitchFamily="34" charset="-122"/>
                <a:cs typeface="Calibri" pitchFamily="34" charset="-120"/>
              </a:rPr>
              <a:t>of all extreme-rainfall months (1970–2016) occurred during the Monsoon season (June–September).</a:t>
            </a:r>
            <a:endParaRPr lang="en-US" sz="1500" dirty="0"/>
          </a:p>
        </p:txBody>
      </p:sp>
      <p:sp>
        <p:nvSpPr>
          <p:cNvPr id="9" name="Text 6"/>
          <p:cNvSpPr/>
          <p:nvPr/>
        </p:nvSpPr>
        <p:spPr>
          <a:xfrm>
            <a:off x="7132320" y="4892040"/>
            <a:ext cx="4160520" cy="685800"/>
          </a:xfrm>
          <a:prstGeom prst="rect">
            <a:avLst/>
          </a:prstGeom>
          <a:noFill/>
          <a:ln/>
        </p:spPr>
        <p:txBody>
          <a:bodyPr wrap="square" rtlCol="0" anchor="ctr"/>
          <a:lstStyle/>
          <a:p>
            <a:pPr marL="0" indent="0" algn="ctr">
              <a:buNone/>
            </a:pPr>
            <a:r>
              <a:rPr lang="en-US" sz="1400" i="1" dirty="0">
                <a:latin typeface="Calibri" pitchFamily="34" charset="0"/>
                <a:ea typeface="Calibri" pitchFamily="34" charset="-122"/>
                <a:cs typeface="Calibri" pitchFamily="34" charset="-120"/>
              </a:rPr>
              <a:t>Winter recorded zero extreme-rainfall events across the full 47-year record.</a:t>
            </a:r>
            <a:endParaRPr lang="en-US" sz="1400" dirty="0"/>
          </a:p>
        </p:txBody>
      </p:sp>
      <p:sp>
        <p:nvSpPr>
          <p:cNvPr id="10" name="Text 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Rainfall Variability in Bangladesh (1970–2016)</a:t>
            </a:r>
            <a:endParaRPr lang="en-US" sz="900" dirty="0"/>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365760"/>
          </a:xfrm>
          <a:prstGeom prst="rect">
            <a:avLst/>
          </a:prstGeom>
          <a:noFill/>
          <a:ln/>
        </p:spPr>
        <p:txBody>
          <a:bodyPr wrap="square"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Objective 5</a:t>
            </a:r>
            <a:endParaRPr lang="en-US" sz="1400" dirty="0"/>
          </a:p>
        </p:txBody>
      </p:sp>
      <p:sp>
        <p:nvSpPr>
          <p:cNvPr id="3" name="Text 1"/>
          <p:cNvSpPr/>
          <p:nvPr/>
        </p:nvSpPr>
        <p:spPr>
          <a:xfrm>
            <a:off x="640080" y="731520"/>
            <a:ext cx="8229600" cy="54864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Rainfall Amount vs. Variability</a:t>
            </a:r>
            <a:endParaRPr lang="en-US" sz="2600" dirty="0"/>
          </a:p>
        </p:txBody>
      </p:sp>
      <p:sp>
        <p:nvSpPr>
          <p:cNvPr id="4" name="Text 2"/>
          <p:cNvSpPr/>
          <p:nvPr/>
        </p:nvSpPr>
        <p:spPr>
          <a:xfrm>
            <a:off x="640080" y="1234440"/>
            <a:ext cx="9144000" cy="32004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Average rainfall vs. Coefficient of Variation across the nine stations</a:t>
            </a:r>
            <a:endParaRPr lang="en-US" sz="1300" dirty="0"/>
          </a:p>
        </p:txBody>
      </p:sp>
      <p:graphicFrame>
        <p:nvGraphicFramePr>
          <p:cNvPr id="5" name="Chart 0"/>
          <p:cNvGraphicFramePr/>
          <p:nvPr/>
        </p:nvGraphicFramePr>
        <p:xfrm>
          <a:off x="548640" y="169164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1920240"/>
            <a:ext cx="3794760" cy="2286000"/>
          </a:xfrm>
          <a:prstGeom prst="roundRect">
            <a:avLst>
              <a:gd name="adj" fmla="val 4000"/>
            </a:avLst>
          </a:prstGeom>
          <a:solidFill>
            <a:srgbClr val="065A82">
              <a:alpha val="10000"/>
            </a:srgbClr>
          </a:solidFill>
          <a:ln w="12700">
            <a:solidFill>
              <a:srgbClr val="065A82"/>
            </a:solidFill>
            <a:prstDash val="solid"/>
          </a:ln>
        </p:spPr>
        <p:txBody>
          <a:bodyPr/>
          <a:lstStyle/>
          <a:p>
            <a:endParaRPr lang="en-US"/>
          </a:p>
        </p:txBody>
      </p:sp>
      <p:sp>
        <p:nvSpPr>
          <p:cNvPr id="7" name="Text 4"/>
          <p:cNvSpPr/>
          <p:nvPr/>
        </p:nvSpPr>
        <p:spPr>
          <a:xfrm>
            <a:off x="8046720" y="2103120"/>
            <a:ext cx="3291840" cy="320040"/>
          </a:xfrm>
          <a:prstGeom prst="rect">
            <a:avLst/>
          </a:prstGeom>
          <a:noFill/>
          <a:ln/>
        </p:spPr>
        <p:txBody>
          <a:bodyPr wrap="square" rtlCol="0" anchor="ctr"/>
          <a:lstStyle/>
          <a:p>
            <a:pPr marL="0" indent="0">
              <a:buNone/>
            </a:pPr>
            <a:r>
              <a:rPr lang="en-US" sz="1100" b="1" kern="0" spc="150" dirty="0">
                <a:solidFill>
                  <a:srgbClr val="065A82"/>
                </a:solidFill>
                <a:latin typeface="Calibri" pitchFamily="34" charset="0"/>
                <a:ea typeface="Calibri" pitchFamily="34" charset="-122"/>
                <a:cs typeface="Calibri" pitchFamily="34" charset="-120"/>
              </a:rPr>
              <a:t>CORRELATION</a:t>
            </a:r>
            <a:endParaRPr lang="en-US" sz="1100" dirty="0"/>
          </a:p>
        </p:txBody>
      </p:sp>
      <p:sp>
        <p:nvSpPr>
          <p:cNvPr id="8" name="Text 5"/>
          <p:cNvSpPr/>
          <p:nvPr/>
        </p:nvSpPr>
        <p:spPr>
          <a:xfrm>
            <a:off x="8046720" y="2423160"/>
            <a:ext cx="3291840" cy="1005840"/>
          </a:xfrm>
          <a:prstGeom prst="rect">
            <a:avLst/>
          </a:prstGeom>
          <a:noFill/>
          <a:ln/>
        </p:spPr>
        <p:txBody>
          <a:bodyPr wrap="square" rtlCol="0" anchor="ctr"/>
          <a:lstStyle/>
          <a:p>
            <a:pPr marL="0" indent="0">
              <a:buNone/>
            </a:pPr>
            <a:r>
              <a:rPr lang="en-US" sz="4600" b="1" dirty="0">
                <a:solidFill>
                  <a:srgbClr val="21295C"/>
                </a:solidFill>
                <a:latin typeface="Cambria" pitchFamily="34" charset="0"/>
                <a:ea typeface="Cambria" pitchFamily="34" charset="-122"/>
                <a:cs typeface="Cambria" pitchFamily="34" charset="-120"/>
              </a:rPr>
              <a:t>-0.13</a:t>
            </a:r>
            <a:endParaRPr lang="en-US" sz="4600" dirty="0"/>
          </a:p>
        </p:txBody>
      </p:sp>
      <p:sp>
        <p:nvSpPr>
          <p:cNvPr id="9" name="Text 6"/>
          <p:cNvSpPr/>
          <p:nvPr/>
        </p:nvSpPr>
        <p:spPr>
          <a:xfrm>
            <a:off x="8046720" y="3474720"/>
            <a:ext cx="3291840" cy="548640"/>
          </a:xfrm>
          <a:prstGeom prst="rect">
            <a:avLst/>
          </a:prstGeom>
          <a:noFill/>
          <a:ln/>
        </p:spPr>
        <p:txBody>
          <a:bodyPr wrap="square" rtlCol="0" anchor="ctr"/>
          <a:lstStyle/>
          <a:p>
            <a:pPr marL="0" indent="0">
              <a:buNone/>
            </a:pPr>
            <a:r>
              <a:rPr lang="en-US" sz="1300" dirty="0">
                <a:solidFill>
                  <a:srgbClr val="6B7A8F"/>
                </a:solidFill>
                <a:latin typeface="Calibri" pitchFamily="34" charset="0"/>
                <a:ea typeface="Calibri" pitchFamily="34" charset="-122"/>
                <a:cs typeface="Calibri" pitchFamily="34" charset="-120"/>
              </a:rPr>
              <a:t>Very weak relationship</a:t>
            </a:r>
            <a:endParaRPr lang="en-US" sz="1300" dirty="0"/>
          </a:p>
        </p:txBody>
      </p:sp>
      <p:sp>
        <p:nvSpPr>
          <p:cNvPr id="10" name="Text 7"/>
          <p:cNvSpPr/>
          <p:nvPr/>
        </p:nvSpPr>
        <p:spPr>
          <a:xfrm>
            <a:off x="7818120" y="4480560"/>
            <a:ext cx="3840480" cy="173736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Rainfall amount does not reliably predict rainfall stability each station should be assessed individually.</a:t>
            </a:r>
            <a:endParaRPr lang="en-US" sz="1300" dirty="0"/>
          </a:p>
        </p:txBody>
      </p:sp>
      <p:sp>
        <p:nvSpPr>
          <p:cNvPr id="11" name="Text 8"/>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Summary of Key Insights</a:t>
            </a:r>
            <a:endParaRPr lang="en-US" sz="3000" dirty="0"/>
          </a:p>
        </p:txBody>
      </p:sp>
      <p:sp>
        <p:nvSpPr>
          <p:cNvPr id="3" name="Shape 1"/>
          <p:cNvSpPr/>
          <p:nvPr/>
        </p:nvSpPr>
        <p:spPr>
          <a:xfrm>
            <a:off x="731520" y="1371600"/>
            <a:ext cx="594360" cy="594360"/>
          </a:xfrm>
          <a:prstGeom prst="ellipse">
            <a:avLst/>
          </a:prstGeom>
          <a:solidFill>
            <a:srgbClr val="065A82"/>
          </a:solidFill>
          <a:ln/>
        </p:spPr>
        <p:txBody>
          <a:bodyPr/>
          <a:lstStyle/>
          <a:p>
            <a:endParaRPr lang="en-US"/>
          </a:p>
        </p:txBody>
      </p:sp>
      <p:pic>
        <p:nvPicPr>
          <p:cNvPr id="4" name="Image 0" descr="/home/claude/pptx_build/icons/chartbar_white.png"/>
          <p:cNvPicPr>
            <a:picLocks noChangeAspect="1"/>
          </p:cNvPicPr>
          <p:nvPr/>
        </p:nvPicPr>
        <p:blipFill>
          <a:blip r:embed="rId3"/>
          <a:stretch>
            <a:fillRect/>
          </a:stretch>
        </p:blipFill>
        <p:spPr>
          <a:xfrm>
            <a:off x="862279" y="1502359"/>
            <a:ext cx="332842" cy="332842"/>
          </a:xfrm>
          <a:prstGeom prst="rect">
            <a:avLst/>
          </a:prstGeom>
        </p:spPr>
      </p:pic>
      <p:sp>
        <p:nvSpPr>
          <p:cNvPr id="5" name="Text 2"/>
          <p:cNvSpPr/>
          <p:nvPr/>
        </p:nvSpPr>
        <p:spPr>
          <a:xfrm>
            <a:off x="1554480" y="1325880"/>
            <a:ext cx="9966960" cy="7772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CoxsBazar, Rangamati, and Bhola record the highest average rainfall; Ishurdi, Satkhira, and Bogra the lowest.</a:t>
            </a:r>
            <a:endParaRPr lang="en-US" sz="1400" dirty="0"/>
          </a:p>
        </p:txBody>
      </p:sp>
      <p:sp>
        <p:nvSpPr>
          <p:cNvPr id="6" name="Shape 3"/>
          <p:cNvSpPr/>
          <p:nvPr/>
        </p:nvSpPr>
        <p:spPr>
          <a:xfrm>
            <a:off x="731520" y="2331720"/>
            <a:ext cx="594360" cy="594360"/>
          </a:xfrm>
          <a:prstGeom prst="ellipse">
            <a:avLst/>
          </a:prstGeom>
          <a:solidFill>
            <a:srgbClr val="1C7293"/>
          </a:solidFill>
          <a:ln/>
        </p:spPr>
        <p:txBody>
          <a:bodyPr/>
          <a:lstStyle/>
          <a:p>
            <a:endParaRPr lang="en-US"/>
          </a:p>
        </p:txBody>
      </p:sp>
      <p:pic>
        <p:nvPicPr>
          <p:cNvPr id="7" name="Image 1" descr="/home/claude/pptx_build/icons/seedling_white.png"/>
          <p:cNvPicPr>
            <a:picLocks noChangeAspect="1"/>
          </p:cNvPicPr>
          <p:nvPr/>
        </p:nvPicPr>
        <p:blipFill>
          <a:blip r:embed="rId4"/>
          <a:stretch>
            <a:fillRect/>
          </a:stretch>
        </p:blipFill>
        <p:spPr>
          <a:xfrm>
            <a:off x="862279" y="2462479"/>
            <a:ext cx="332842" cy="332842"/>
          </a:xfrm>
          <a:prstGeom prst="rect">
            <a:avLst/>
          </a:prstGeom>
        </p:spPr>
      </p:pic>
      <p:sp>
        <p:nvSpPr>
          <p:cNvPr id="8" name="Text 4"/>
          <p:cNvSpPr/>
          <p:nvPr/>
        </p:nvSpPr>
        <p:spPr>
          <a:xfrm>
            <a:off x="1554480" y="2286000"/>
            <a:ext cx="9966960" cy="7772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July offers the highest average rainfall (523mm) with relatively low variability (CV ≈ 59%) — the most reliable planting month.</a:t>
            </a:r>
            <a:endParaRPr lang="en-US" sz="1400" dirty="0"/>
          </a:p>
        </p:txBody>
      </p:sp>
      <p:sp>
        <p:nvSpPr>
          <p:cNvPr id="9" name="Shape 5"/>
          <p:cNvSpPr/>
          <p:nvPr/>
        </p:nvSpPr>
        <p:spPr>
          <a:xfrm>
            <a:off x="731520" y="3291840"/>
            <a:ext cx="594360" cy="594360"/>
          </a:xfrm>
          <a:prstGeom prst="ellipse">
            <a:avLst/>
          </a:prstGeom>
          <a:solidFill>
            <a:srgbClr val="065A82"/>
          </a:solidFill>
          <a:ln/>
        </p:spPr>
        <p:txBody>
          <a:bodyPr/>
          <a:lstStyle/>
          <a:p>
            <a:endParaRPr lang="en-US"/>
          </a:p>
        </p:txBody>
      </p:sp>
      <p:pic>
        <p:nvPicPr>
          <p:cNvPr id="10" name="Image 2" descr="/home/claude/pptx_build/icons/chartline_white.png"/>
          <p:cNvPicPr>
            <a:picLocks noChangeAspect="1"/>
          </p:cNvPicPr>
          <p:nvPr/>
        </p:nvPicPr>
        <p:blipFill>
          <a:blip r:embed="rId5"/>
          <a:stretch>
            <a:fillRect/>
          </a:stretch>
        </p:blipFill>
        <p:spPr>
          <a:xfrm>
            <a:off x="862279" y="3422599"/>
            <a:ext cx="332842" cy="332842"/>
          </a:xfrm>
          <a:prstGeom prst="rect">
            <a:avLst/>
          </a:prstGeom>
        </p:spPr>
      </p:pic>
      <p:sp>
        <p:nvSpPr>
          <p:cNvPr id="11" name="Text 6"/>
          <p:cNvSpPr/>
          <p:nvPr/>
        </p:nvSpPr>
        <p:spPr>
          <a:xfrm>
            <a:off x="1554480" y="3246120"/>
            <a:ext cx="9966960" cy="7772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Variability does not follow one trend nationally: some stations stabilized over time, while coastal stations grew more variable.</a:t>
            </a:r>
            <a:endParaRPr lang="en-US" sz="1400" dirty="0"/>
          </a:p>
        </p:txBody>
      </p:sp>
      <p:sp>
        <p:nvSpPr>
          <p:cNvPr id="12" name="Shape 7"/>
          <p:cNvSpPr/>
          <p:nvPr/>
        </p:nvSpPr>
        <p:spPr>
          <a:xfrm>
            <a:off x="731520" y="4251960"/>
            <a:ext cx="594360" cy="594360"/>
          </a:xfrm>
          <a:prstGeom prst="ellipse">
            <a:avLst/>
          </a:prstGeom>
          <a:solidFill>
            <a:srgbClr val="1C7293"/>
          </a:solidFill>
          <a:ln/>
        </p:spPr>
        <p:txBody>
          <a:bodyPr/>
          <a:lstStyle/>
          <a:p>
            <a:endParaRPr lang="en-US"/>
          </a:p>
        </p:txBody>
      </p:sp>
      <p:pic>
        <p:nvPicPr>
          <p:cNvPr id="13" name="Image 3" descr="/home/claude/pptx_build/icons/warning_white.png"/>
          <p:cNvPicPr>
            <a:picLocks noChangeAspect="1"/>
          </p:cNvPicPr>
          <p:nvPr/>
        </p:nvPicPr>
        <p:blipFill>
          <a:blip r:embed="rId6"/>
          <a:stretch>
            <a:fillRect/>
          </a:stretch>
        </p:blipFill>
        <p:spPr>
          <a:xfrm>
            <a:off x="862279" y="4382719"/>
            <a:ext cx="332842" cy="332842"/>
          </a:xfrm>
          <a:prstGeom prst="rect">
            <a:avLst/>
          </a:prstGeom>
        </p:spPr>
      </p:pic>
      <p:sp>
        <p:nvSpPr>
          <p:cNvPr id="14" name="Text 8"/>
          <p:cNvSpPr/>
          <p:nvPr/>
        </p:nvSpPr>
        <p:spPr>
          <a:xfrm>
            <a:off x="1554480" y="4206240"/>
            <a:ext cx="9966960" cy="7772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The Monsoon season (Jun–Sep) accounts for 93% of all extreme-rainfall months — by far the highest flood risk period.</a:t>
            </a:r>
            <a:endParaRPr lang="en-US" sz="1400" dirty="0"/>
          </a:p>
        </p:txBody>
      </p:sp>
      <p:sp>
        <p:nvSpPr>
          <p:cNvPr id="15" name="Shape 9"/>
          <p:cNvSpPr/>
          <p:nvPr/>
        </p:nvSpPr>
        <p:spPr>
          <a:xfrm>
            <a:off x="731520" y="5212080"/>
            <a:ext cx="594360" cy="594360"/>
          </a:xfrm>
          <a:prstGeom prst="ellipse">
            <a:avLst/>
          </a:prstGeom>
          <a:solidFill>
            <a:srgbClr val="065A82"/>
          </a:solidFill>
          <a:ln/>
        </p:spPr>
        <p:txBody>
          <a:bodyPr/>
          <a:lstStyle/>
          <a:p>
            <a:endParaRPr lang="en-US"/>
          </a:p>
        </p:txBody>
      </p:sp>
      <p:pic>
        <p:nvPicPr>
          <p:cNvPr id="16" name="Image 4" descr="/home/claude/pptx_build/icons/water_white.png"/>
          <p:cNvPicPr>
            <a:picLocks noChangeAspect="1"/>
          </p:cNvPicPr>
          <p:nvPr/>
        </p:nvPicPr>
        <p:blipFill>
          <a:blip r:embed="rId7"/>
          <a:stretch>
            <a:fillRect/>
          </a:stretch>
        </p:blipFill>
        <p:spPr>
          <a:xfrm>
            <a:off x="862279" y="5342839"/>
            <a:ext cx="332842" cy="332842"/>
          </a:xfrm>
          <a:prstGeom prst="rect">
            <a:avLst/>
          </a:prstGeom>
        </p:spPr>
      </p:pic>
      <p:sp>
        <p:nvSpPr>
          <p:cNvPr id="17" name="Text 10"/>
          <p:cNvSpPr/>
          <p:nvPr/>
        </p:nvSpPr>
        <p:spPr>
          <a:xfrm>
            <a:off x="1554480" y="5166360"/>
            <a:ext cx="9966960" cy="7772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Rainfall amount and variability are only weakly correlated (-0.13) — each station must be assessed on its own pattern.</a:t>
            </a:r>
            <a:endParaRPr lang="en-US" sz="1400" dirty="0"/>
          </a:p>
        </p:txBody>
      </p:sp>
      <p:sp>
        <p:nvSpPr>
          <p:cNvPr id="18" name="Text 11"/>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A8F"/>
                </a:solidFill>
                <a:latin typeface="Calibri" pitchFamily="34" charset="0"/>
                <a:ea typeface="Calibri" pitchFamily="34" charset="-122"/>
                <a:cs typeface="Calibri" pitchFamily="34" charset="-120"/>
              </a:rPr>
              <a:t>Rainfall Variability in Bangladesh (1970–2016)</a:t>
            </a:r>
            <a:endParaRPr lang="en-US" sz="900" dirty="0"/>
          </a:p>
        </p:txBody>
      </p:sp>
      <p:sp>
        <p:nvSpPr>
          <p:cNvPr id="19"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A8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1C7293">
              <a:alpha val="40000"/>
            </a:srgbClr>
          </a:solidFill>
          <a:ln/>
        </p:spPr>
        <p:txBody>
          <a:bodyPr/>
          <a:lstStyle/>
          <a:p>
            <a:endParaRPr lang="en-US"/>
          </a:p>
        </p:txBody>
      </p:sp>
      <p:sp>
        <p:nvSpPr>
          <p:cNvPr id="3" name="Text 1"/>
          <p:cNvSpPr/>
          <p:nvPr/>
        </p:nvSpPr>
        <p:spPr>
          <a:xfrm>
            <a:off x="640080" y="457200"/>
            <a:ext cx="8229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Recommendations</a:t>
            </a:r>
            <a:endParaRPr lang="en-US" sz="3000" dirty="0"/>
          </a:p>
        </p:txBody>
      </p:sp>
      <p:sp>
        <p:nvSpPr>
          <p:cNvPr id="4" name="Shape 2"/>
          <p:cNvSpPr/>
          <p:nvPr/>
        </p:nvSpPr>
        <p:spPr>
          <a:xfrm>
            <a:off x="731520" y="1417320"/>
            <a:ext cx="640080" cy="640080"/>
          </a:xfrm>
          <a:prstGeom prst="ellipse">
            <a:avLst/>
          </a:prstGeom>
          <a:solidFill>
            <a:srgbClr val="CADCFC"/>
          </a:solidFill>
          <a:ln/>
        </p:spPr>
        <p:txBody>
          <a:bodyPr/>
          <a:lstStyle/>
          <a:p>
            <a:endParaRPr lang="en-US"/>
          </a:p>
        </p:txBody>
      </p:sp>
      <p:pic>
        <p:nvPicPr>
          <p:cNvPr id="5" name="Image 0" descr="/home/claude/pptx_build/icons/warning_navy.png"/>
          <p:cNvPicPr>
            <a:picLocks noChangeAspect="1"/>
          </p:cNvPicPr>
          <p:nvPr/>
        </p:nvPicPr>
        <p:blipFill>
          <a:blip r:embed="rId3"/>
          <a:stretch>
            <a:fillRect/>
          </a:stretch>
        </p:blipFill>
        <p:spPr>
          <a:xfrm>
            <a:off x="872338" y="1558138"/>
            <a:ext cx="358445" cy="358445"/>
          </a:xfrm>
          <a:prstGeom prst="rect">
            <a:avLst/>
          </a:prstGeom>
        </p:spPr>
      </p:pic>
      <p:sp>
        <p:nvSpPr>
          <p:cNvPr id="6" name="Text 3"/>
          <p:cNvSpPr/>
          <p:nvPr/>
        </p:nvSpPr>
        <p:spPr>
          <a:xfrm>
            <a:off x="1600200" y="1371600"/>
            <a:ext cx="987552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Prioritize Monsoon-season flood monitoring</a:t>
            </a:r>
            <a:endParaRPr lang="en-US" sz="1600" dirty="0"/>
          </a:p>
        </p:txBody>
      </p:sp>
      <p:sp>
        <p:nvSpPr>
          <p:cNvPr id="7" name="Text 4"/>
          <p:cNvSpPr/>
          <p:nvPr/>
        </p:nvSpPr>
        <p:spPr>
          <a:xfrm>
            <a:off x="1600200" y="1783080"/>
            <a:ext cx="9875520" cy="4572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Concentrate early-warning resources during June–September, especially at coastal stations.</a:t>
            </a:r>
            <a:endParaRPr lang="en-US" sz="1250" dirty="0"/>
          </a:p>
        </p:txBody>
      </p:sp>
      <p:sp>
        <p:nvSpPr>
          <p:cNvPr id="8" name="Shape 5"/>
          <p:cNvSpPr/>
          <p:nvPr/>
        </p:nvSpPr>
        <p:spPr>
          <a:xfrm>
            <a:off x="731520" y="2532888"/>
            <a:ext cx="640080" cy="640080"/>
          </a:xfrm>
          <a:prstGeom prst="ellipse">
            <a:avLst/>
          </a:prstGeom>
          <a:solidFill>
            <a:srgbClr val="CADCFC"/>
          </a:solidFill>
          <a:ln/>
        </p:spPr>
        <p:txBody>
          <a:bodyPr/>
          <a:lstStyle/>
          <a:p>
            <a:endParaRPr lang="en-US"/>
          </a:p>
        </p:txBody>
      </p:sp>
      <p:pic>
        <p:nvPicPr>
          <p:cNvPr id="9" name="Image 1" descr="/home/claude/pptx_build/icons/seedling_navy.png"/>
          <p:cNvPicPr>
            <a:picLocks noChangeAspect="1"/>
          </p:cNvPicPr>
          <p:nvPr/>
        </p:nvPicPr>
        <p:blipFill>
          <a:blip r:embed="rId4"/>
          <a:stretch>
            <a:fillRect/>
          </a:stretch>
        </p:blipFill>
        <p:spPr>
          <a:xfrm>
            <a:off x="872338" y="2673706"/>
            <a:ext cx="358445" cy="358445"/>
          </a:xfrm>
          <a:prstGeom prst="rect">
            <a:avLst/>
          </a:prstGeom>
        </p:spPr>
      </p:pic>
      <p:sp>
        <p:nvSpPr>
          <p:cNvPr id="10" name="Text 6"/>
          <p:cNvSpPr/>
          <p:nvPr/>
        </p:nvSpPr>
        <p:spPr>
          <a:xfrm>
            <a:off x="1600200" y="2487168"/>
            <a:ext cx="987552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Use June–September as the primary planting window</a:t>
            </a:r>
            <a:endParaRPr lang="en-US" sz="1600" dirty="0"/>
          </a:p>
        </p:txBody>
      </p:sp>
      <p:sp>
        <p:nvSpPr>
          <p:cNvPr id="11" name="Text 7"/>
          <p:cNvSpPr/>
          <p:nvPr/>
        </p:nvSpPr>
        <p:spPr>
          <a:xfrm>
            <a:off x="1600200" y="2898648"/>
            <a:ext cx="9875520" cy="4572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Farmers can rely on this period for consistently high, relatively stable rainfall.</a:t>
            </a:r>
            <a:endParaRPr lang="en-US" sz="1250" dirty="0"/>
          </a:p>
        </p:txBody>
      </p:sp>
      <p:sp>
        <p:nvSpPr>
          <p:cNvPr id="12" name="Shape 8"/>
          <p:cNvSpPr/>
          <p:nvPr/>
        </p:nvSpPr>
        <p:spPr>
          <a:xfrm>
            <a:off x="731520" y="3648456"/>
            <a:ext cx="640080" cy="640080"/>
          </a:xfrm>
          <a:prstGeom prst="ellipse">
            <a:avLst/>
          </a:prstGeom>
          <a:solidFill>
            <a:srgbClr val="CADCFC"/>
          </a:solidFill>
          <a:ln/>
        </p:spPr>
        <p:txBody>
          <a:bodyPr/>
          <a:lstStyle/>
          <a:p>
            <a:endParaRPr lang="en-US"/>
          </a:p>
        </p:txBody>
      </p:sp>
      <p:pic>
        <p:nvPicPr>
          <p:cNvPr id="13" name="Image 2" descr="/home/claude/pptx_build/icons/map_navy.png"/>
          <p:cNvPicPr>
            <a:picLocks noChangeAspect="1"/>
          </p:cNvPicPr>
          <p:nvPr/>
        </p:nvPicPr>
        <p:blipFill>
          <a:blip r:embed="rId5"/>
          <a:stretch>
            <a:fillRect/>
          </a:stretch>
        </p:blipFill>
        <p:spPr>
          <a:xfrm>
            <a:off x="872338" y="3789274"/>
            <a:ext cx="358445" cy="358445"/>
          </a:xfrm>
          <a:prstGeom prst="rect">
            <a:avLst/>
          </a:prstGeom>
        </p:spPr>
      </p:pic>
      <p:sp>
        <p:nvSpPr>
          <p:cNvPr id="14" name="Text 9"/>
          <p:cNvSpPr/>
          <p:nvPr/>
        </p:nvSpPr>
        <p:spPr>
          <a:xfrm>
            <a:off x="1600200" y="3602736"/>
            <a:ext cx="987552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Monitor coastal stations more closely</a:t>
            </a:r>
            <a:endParaRPr lang="en-US" sz="1600" dirty="0"/>
          </a:p>
        </p:txBody>
      </p:sp>
      <p:sp>
        <p:nvSpPr>
          <p:cNvPr id="15" name="Text 10"/>
          <p:cNvSpPr/>
          <p:nvPr/>
        </p:nvSpPr>
        <p:spPr>
          <a:xfrm>
            <a:off x="1600200" y="4014216"/>
            <a:ext cx="9875520" cy="4572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Stations like CoxsBazar show rising variability in recent decades and need adaptive planning.</a:t>
            </a:r>
            <a:endParaRPr lang="en-US" sz="1250" dirty="0"/>
          </a:p>
        </p:txBody>
      </p:sp>
      <p:sp>
        <p:nvSpPr>
          <p:cNvPr id="16" name="Shape 11"/>
          <p:cNvSpPr/>
          <p:nvPr/>
        </p:nvSpPr>
        <p:spPr>
          <a:xfrm>
            <a:off x="731520" y="4764024"/>
            <a:ext cx="640080" cy="640080"/>
          </a:xfrm>
          <a:prstGeom prst="ellipse">
            <a:avLst/>
          </a:prstGeom>
          <a:solidFill>
            <a:srgbClr val="CADCFC"/>
          </a:solidFill>
          <a:ln/>
        </p:spPr>
        <p:txBody>
          <a:bodyPr/>
          <a:lstStyle/>
          <a:p>
            <a:endParaRPr lang="en-US"/>
          </a:p>
        </p:txBody>
      </p:sp>
      <p:pic>
        <p:nvPicPr>
          <p:cNvPr id="17" name="Image 3" descr="/home/claude/pptx_build/icons/chartline_navy.png"/>
          <p:cNvPicPr>
            <a:picLocks noChangeAspect="1"/>
          </p:cNvPicPr>
          <p:nvPr/>
        </p:nvPicPr>
        <p:blipFill>
          <a:blip r:embed="rId6"/>
          <a:stretch>
            <a:fillRect/>
          </a:stretch>
        </p:blipFill>
        <p:spPr>
          <a:xfrm>
            <a:off x="872338" y="4904842"/>
            <a:ext cx="358445" cy="358445"/>
          </a:xfrm>
          <a:prstGeom prst="rect">
            <a:avLst/>
          </a:prstGeom>
        </p:spPr>
      </p:pic>
      <p:sp>
        <p:nvSpPr>
          <p:cNvPr id="18" name="Text 12"/>
          <p:cNvSpPr/>
          <p:nvPr/>
        </p:nvSpPr>
        <p:spPr>
          <a:xfrm>
            <a:off x="1600200" y="4718304"/>
            <a:ext cx="987552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Avoid generalizing by rainfall amount alone</a:t>
            </a:r>
            <a:endParaRPr lang="en-US" sz="1600" dirty="0"/>
          </a:p>
        </p:txBody>
      </p:sp>
      <p:sp>
        <p:nvSpPr>
          <p:cNvPr id="19" name="Text 13"/>
          <p:cNvSpPr/>
          <p:nvPr/>
        </p:nvSpPr>
        <p:spPr>
          <a:xfrm>
            <a:off x="1600200" y="5129784"/>
            <a:ext cx="9875520" cy="4572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Assess each station's variability individually rather than assuming similar stations behave alike.</a:t>
            </a:r>
            <a:endParaRPr lang="en-US" sz="1250" dirty="0"/>
          </a:p>
        </p:txBody>
      </p:sp>
      <p:sp>
        <p:nvSpPr>
          <p:cNvPr id="20" name="Text 1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Rainfall Variability in Bangladesh (1970–2016)</a:t>
            </a:r>
            <a:endParaRPr lang="en-US" sz="900" dirty="0"/>
          </a:p>
        </p:txBody>
      </p:sp>
      <p:sp>
        <p:nvSpPr>
          <p:cNvPr id="21" name="Text 1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65A82">
              <a:alpha val="45000"/>
            </a:srgbClr>
          </a:solidFill>
          <a:ln/>
        </p:spPr>
        <p:txBody>
          <a:bodyPr/>
          <a:lstStyle/>
          <a:p>
            <a:endParaRPr lang="en-US"/>
          </a:p>
        </p:txBody>
      </p:sp>
      <p:sp>
        <p:nvSpPr>
          <p:cNvPr id="3" name="Shape 1"/>
          <p:cNvSpPr/>
          <p:nvPr/>
        </p:nvSpPr>
        <p:spPr>
          <a:xfrm>
            <a:off x="-2286000" y="4206240"/>
            <a:ext cx="3840480" cy="3840480"/>
          </a:xfrm>
          <a:prstGeom prst="ellipse">
            <a:avLst/>
          </a:prstGeom>
          <a:solidFill>
            <a:srgbClr val="1C7293">
              <a:alpha val="45000"/>
            </a:srgbClr>
          </a:solidFill>
          <a:ln/>
        </p:spPr>
        <p:txBody>
          <a:bodyPr/>
          <a:lstStyle/>
          <a:p>
            <a:endParaRPr lang="en-US"/>
          </a:p>
        </p:txBody>
      </p:sp>
      <p:sp>
        <p:nvSpPr>
          <p:cNvPr id="4" name="Shape 2"/>
          <p:cNvSpPr/>
          <p:nvPr/>
        </p:nvSpPr>
        <p:spPr>
          <a:xfrm>
            <a:off x="5120640" y="1828800"/>
            <a:ext cx="1280160" cy="1280160"/>
          </a:xfrm>
          <a:prstGeom prst="ellipse">
            <a:avLst/>
          </a:prstGeom>
          <a:solidFill>
            <a:srgbClr val="1C7293"/>
          </a:solidFill>
          <a:ln/>
        </p:spPr>
        <p:txBody>
          <a:bodyPr/>
          <a:lstStyle/>
          <a:p>
            <a:endParaRPr lang="en-US"/>
          </a:p>
        </p:txBody>
      </p:sp>
      <p:pic>
        <p:nvPicPr>
          <p:cNvPr id="5" name="Image 0" descr="/home/claude/pptx_build/icons/cloudrain_white.png"/>
          <p:cNvPicPr>
            <a:picLocks noChangeAspect="1"/>
          </p:cNvPicPr>
          <p:nvPr/>
        </p:nvPicPr>
        <p:blipFill>
          <a:blip r:embed="rId3"/>
          <a:stretch>
            <a:fillRect/>
          </a:stretch>
        </p:blipFill>
        <p:spPr>
          <a:xfrm>
            <a:off x="5402275" y="2110435"/>
            <a:ext cx="716890" cy="716890"/>
          </a:xfrm>
          <a:prstGeom prst="rect">
            <a:avLst/>
          </a:prstGeom>
        </p:spPr>
      </p:pic>
      <p:sp>
        <p:nvSpPr>
          <p:cNvPr id="6" name="Text 3"/>
          <p:cNvSpPr/>
          <p:nvPr/>
        </p:nvSpPr>
        <p:spPr>
          <a:xfrm>
            <a:off x="822960" y="3383280"/>
            <a:ext cx="10515600"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822960" y="4206240"/>
            <a:ext cx="10515600"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BAB78-BFA2-D680-E1C4-4EA95E55E001}"/>
              </a:ext>
            </a:extLst>
          </p:cNvPr>
          <p:cNvPicPr>
            <a:picLocks noChangeAspect="1"/>
          </p:cNvPicPr>
          <p:nvPr/>
        </p:nvPicPr>
        <p:blipFill>
          <a:blip r:embed="rId2"/>
          <a:stretch>
            <a:fillRect/>
          </a:stretch>
        </p:blipFill>
        <p:spPr>
          <a:xfrm>
            <a:off x="5936881" y="1137697"/>
            <a:ext cx="5921021" cy="4063077"/>
          </a:xfrm>
          <a:prstGeom prst="rect">
            <a:avLst/>
          </a:prstGeom>
        </p:spPr>
      </p:pic>
      <p:sp>
        <p:nvSpPr>
          <p:cNvPr id="4" name="TextBox 3">
            <a:extLst>
              <a:ext uri="{FF2B5EF4-FFF2-40B4-BE49-F238E27FC236}">
                <a16:creationId xmlns:a16="http://schemas.microsoft.com/office/drawing/2014/main" id="{B80EB167-F2CA-1646-4FE6-AD3E56229D0D}"/>
              </a:ext>
            </a:extLst>
          </p:cNvPr>
          <p:cNvSpPr txBox="1"/>
          <p:nvPr/>
        </p:nvSpPr>
        <p:spPr>
          <a:xfrm>
            <a:off x="1396786" y="362464"/>
            <a:ext cx="3083442" cy="923330"/>
          </a:xfrm>
          <a:prstGeom prst="rect">
            <a:avLst/>
          </a:prstGeom>
          <a:noFill/>
        </p:spPr>
        <p:txBody>
          <a:bodyPr wrap="square" rtlCol="0">
            <a:spAutoFit/>
          </a:bodyPr>
          <a:lstStyle/>
          <a:p>
            <a:r>
              <a:rPr lang="en-US" sz="5400" dirty="0">
                <a:latin typeface="Cambria" panose="02040503050406030204" pitchFamily="18" charset="0"/>
                <a:ea typeface="Cambria" panose="02040503050406030204" pitchFamily="18" charset="0"/>
              </a:rPr>
              <a:t>Locations </a:t>
            </a:r>
          </a:p>
        </p:txBody>
      </p:sp>
      <p:sp>
        <p:nvSpPr>
          <p:cNvPr id="6" name="TextBox 5">
            <a:extLst>
              <a:ext uri="{FF2B5EF4-FFF2-40B4-BE49-F238E27FC236}">
                <a16:creationId xmlns:a16="http://schemas.microsoft.com/office/drawing/2014/main" id="{F4F6C2AF-3F81-ABDD-CE95-66787AD7CC1C}"/>
              </a:ext>
            </a:extLst>
          </p:cNvPr>
          <p:cNvSpPr txBox="1"/>
          <p:nvPr/>
        </p:nvSpPr>
        <p:spPr>
          <a:xfrm>
            <a:off x="248574" y="1691908"/>
            <a:ext cx="5379869" cy="1477328"/>
          </a:xfrm>
          <a:prstGeom prst="rect">
            <a:avLst/>
          </a:prstGeom>
          <a:solidFill>
            <a:schemeClr val="accent5">
              <a:lumMod val="20000"/>
              <a:lumOff val="80000"/>
            </a:schemeClr>
          </a:solidFill>
        </p:spPr>
        <p:txBody>
          <a:bodyPr wrap="square">
            <a:spAutoFit/>
          </a:bodyPr>
          <a:lstStyle/>
          <a:p>
            <a:r>
              <a:rPr lang="en-US" b="1" dirty="0"/>
              <a:t>Coastal Stations</a:t>
            </a:r>
            <a:endParaRPr lang="en-US"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Barisal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Bhola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Cox's Bazar</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Satkhira</a:t>
            </a:r>
            <a:endParaRPr lang="en-US" dirty="0">
              <a:latin typeface="Cambria" panose="02040503050406030204" pitchFamily="18" charset="0"/>
              <a:ea typeface="Cambria" panose="02040503050406030204" pitchFamily="18" charset="0"/>
            </a:endParaRPr>
          </a:p>
        </p:txBody>
      </p:sp>
      <p:sp>
        <p:nvSpPr>
          <p:cNvPr id="18" name="TextBox 17">
            <a:extLst>
              <a:ext uri="{FF2B5EF4-FFF2-40B4-BE49-F238E27FC236}">
                <a16:creationId xmlns:a16="http://schemas.microsoft.com/office/drawing/2014/main" id="{391E5853-B9DA-E183-5F33-438F992E7DD2}"/>
              </a:ext>
            </a:extLst>
          </p:cNvPr>
          <p:cNvSpPr txBox="1"/>
          <p:nvPr/>
        </p:nvSpPr>
        <p:spPr>
          <a:xfrm>
            <a:off x="248573" y="3429000"/>
            <a:ext cx="5379869" cy="1477328"/>
          </a:xfrm>
          <a:prstGeom prst="rect">
            <a:avLst/>
          </a:prstGeom>
          <a:solidFill>
            <a:schemeClr val="accent2">
              <a:lumMod val="20000"/>
              <a:lumOff val="80000"/>
            </a:schemeClr>
          </a:solidFill>
        </p:spPr>
        <p:txBody>
          <a:bodyPr wrap="square">
            <a:spAutoFit/>
          </a:bodyPr>
          <a:lstStyle/>
          <a:p>
            <a:r>
              <a:rPr lang="en-US" b="1" dirty="0" err="1"/>
              <a:t>Bogra</a:t>
            </a:r>
            <a:r>
              <a:rPr lang="en-US" dirty="0"/>
              <a:t> → Inland (Northwestern Bangladesh) </a:t>
            </a:r>
          </a:p>
          <a:p>
            <a:r>
              <a:rPr lang="en-US" b="1" dirty="0"/>
              <a:t>Faridpur</a:t>
            </a:r>
            <a:r>
              <a:rPr lang="en-US" dirty="0"/>
              <a:t> → Inland / Central floodplain </a:t>
            </a:r>
          </a:p>
          <a:p>
            <a:r>
              <a:rPr lang="en-US" b="1" dirty="0" err="1"/>
              <a:t>Ishurdi</a:t>
            </a:r>
            <a:r>
              <a:rPr lang="en-US" dirty="0"/>
              <a:t> → Inland (Western Bangladesh) </a:t>
            </a:r>
          </a:p>
          <a:p>
            <a:r>
              <a:rPr lang="en-US" b="1" dirty="0"/>
              <a:t>Mymensingh</a:t>
            </a:r>
            <a:r>
              <a:rPr lang="en-US" dirty="0"/>
              <a:t> → Inland (North-central Bangladesh) </a:t>
            </a:r>
          </a:p>
          <a:p>
            <a:r>
              <a:rPr lang="en-US" b="1" dirty="0"/>
              <a:t>Rangamati</a:t>
            </a:r>
            <a:r>
              <a:rPr lang="en-US" dirty="0"/>
              <a:t> → Inland </a:t>
            </a:r>
            <a:r>
              <a:rPr lang="en-US" b="1" dirty="0"/>
              <a:t>Hill Region</a:t>
            </a:r>
            <a:r>
              <a:rPr lang="en-US" dirty="0"/>
              <a:t> (Chittagong Hill Tracts)</a:t>
            </a:r>
          </a:p>
        </p:txBody>
      </p:sp>
    </p:spTree>
    <p:extLst>
      <p:ext uri="{BB962C8B-B14F-4D97-AF65-F5344CB8AC3E}">
        <p14:creationId xmlns:p14="http://schemas.microsoft.com/office/powerpoint/2010/main" val="2899322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otalTime>911</TotalTime>
  <Words>1041</Words>
  <Application>Microsoft Office PowerPoint</Application>
  <PresentationFormat>Widescreen</PresentationFormat>
  <Paragraphs>175</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ABDULLA KHALED SALEH ALZAKRI</cp:lastModifiedBy>
  <cp:revision>5</cp:revision>
  <dcterms:created xsi:type="dcterms:W3CDTF">2026-07-12T19:50:04Z</dcterms:created>
  <dcterms:modified xsi:type="dcterms:W3CDTF">2026-07-13T11:05:48Z</dcterms:modified>
</cp:coreProperties>
</file>